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d53b021-cdd1-11d8-b2fc-01f3c8544a7d}">
          <p14:sldIdLst>
            <p14:sldId id="256"/>
            <p14:sldId id="257"/>
            <p14:sldId id="258"/>
          </p14:sldIdLst>
        </p14:section>
        <p14:section name="Analysis" id="{1f3ee3d5-729d-9edb-b572-7e656890ba16}">
          <p14:sldIdLst>
            <p14:sldId id="259"/>
            <p14:sldId id="260"/>
            <p14:sldId id="261"/>
          </p14:sldIdLst>
        </p14:section>
        <p14:section name="Design" id="{fe739ad7-69f9-c706-f53f-f99fa6ed500c}">
          <p14:sldIdLst>
            <p14:sldId id="262"/>
            <p14:sldId id="263"/>
          </p14:sldIdLst>
        </p14:section>
        <p14:section name="Implementation" id="{ceed2e00-a035-a267-c55a-f2f37a35dd95}">
          <p14:sldIdLst>
            <p14:sldId id="264"/>
            <p14:sldId id="265"/>
            <p14:sldId id="266"/>
            <p14:sldId id="267"/>
          </p14:sldIdLst>
        </p14:section>
        <p14:section name="Conclusion" id="{e99e0811-7bb6-f0bd-3920-7c4596337c83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Smart Parking Management System  |  DBMS Mini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left" descr="JSPM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1440"/>
            <a:ext cx="1005840" cy="969264"/>
          </a:xfrm>
          <a:prstGeom prst="rect">
            <a:avLst/>
          </a:prstGeom>
        </p:spPr>
      </p:pic>
      <p:pic>
        <p:nvPicPr>
          <p:cNvPr id="3" name="Logo right" descr="RSCO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91440"/>
            <a:ext cx="1005840" cy="9144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80160" y="9144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JSPM’s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Rajarshi Shahu College of Engineering, Tathawade, Pune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(An Autonomous Institute affiliated to Savitribai Phule Pune University)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Department of Computer Science and Business Systems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1280160" y="1463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Academic Year: 2026-27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128016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Project Title:</a:t>
            </a:r>
            <a:endParaRPr lang="en-US" sz="2000" dirty="0"/>
          </a:p>
        </p:txBody>
      </p:sp>
      <p:sp>
        <p:nvSpPr>
          <p:cNvPr id="7" name="Title card"/>
          <p:cNvSpPr/>
          <p:nvPr/>
        </p:nvSpPr>
        <p:spPr>
          <a:xfrm>
            <a:off x="2194560" y="2423160"/>
            <a:ext cx="7772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94560" y="2423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Smart Parking Management System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703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Students Name and PRN no: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114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Parth Mohurle - RBT25ET072(68)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4805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Saurav Bhonde - RBT25ET027(67)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377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27-10-2026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349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Course Name: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Database Management System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5760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Course Coordinator: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Prof. Rutuja S. Bachhav</a:t>
            </a:r>
            <a:endParaRPr lang="en-US" sz="1800" dirty="0"/>
          </a:p>
        </p:txBody>
      </p:sp>
      <p:sp>
        <p:nvSpPr>
          <p:cNvPr id="15" name="Tech card"/>
          <p:cNvSpPr/>
          <p:nvPr/>
        </p:nvSpPr>
        <p:spPr>
          <a:xfrm>
            <a:off x="7680960" y="3703320"/>
            <a:ext cx="3749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09560" y="3794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Tech Stack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909560" y="429768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Database: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MySQL (3NF)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Front end: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Python Tkinter GUI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Connector: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mysql-connector-python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Roles: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Admin / Attendant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Index</a:t>
            </a:r>
            <a:endParaRPr lang="en-US" sz="3600" dirty="0"/>
          </a:p>
        </p:txBody>
      </p:sp>
      <p:sp>
        <p:nvSpPr>
          <p:cNvPr id="3" name="Index card 1"/>
          <p:cNvSpPr/>
          <p:nvPr/>
        </p:nvSpPr>
        <p:spPr>
          <a:xfrm>
            <a:off x="914400" y="1554480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dex badge 1"/>
          <p:cNvSpPr/>
          <p:nvPr/>
        </p:nvSpPr>
        <p:spPr>
          <a:xfrm>
            <a:off x="109728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</a:t>
            </a:r>
            <a:endParaRPr lang="en-US" sz="1800" dirty="0"/>
          </a:p>
        </p:txBody>
      </p:sp>
      <p:sp>
        <p:nvSpPr>
          <p:cNvPr id="7" name="Index card 2"/>
          <p:cNvSpPr/>
          <p:nvPr/>
        </p:nvSpPr>
        <p:spPr>
          <a:xfrm>
            <a:off x="914400" y="2450592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ndex badge 2"/>
          <p:cNvSpPr/>
          <p:nvPr/>
        </p:nvSpPr>
        <p:spPr>
          <a:xfrm>
            <a:off x="1097280" y="2587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4505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Problem Definition &amp; Objectives</a:t>
            </a:r>
            <a:endParaRPr lang="en-US" sz="1800" dirty="0"/>
          </a:p>
        </p:txBody>
      </p:sp>
      <p:sp>
        <p:nvSpPr>
          <p:cNvPr id="11" name="Index card 3"/>
          <p:cNvSpPr/>
          <p:nvPr/>
        </p:nvSpPr>
        <p:spPr>
          <a:xfrm>
            <a:off x="914400" y="3346704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ndex badge 3"/>
          <p:cNvSpPr/>
          <p:nvPr/>
        </p:nvSpPr>
        <p:spPr>
          <a:xfrm>
            <a:off x="1097280" y="34838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34670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Literature Survey</a:t>
            </a:r>
            <a:endParaRPr lang="en-US" sz="1800" dirty="0"/>
          </a:p>
        </p:txBody>
      </p:sp>
      <p:sp>
        <p:nvSpPr>
          <p:cNvPr id="15" name="Index card 4"/>
          <p:cNvSpPr/>
          <p:nvPr/>
        </p:nvSpPr>
        <p:spPr>
          <a:xfrm>
            <a:off x="914400" y="4242816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ndex badge 4"/>
          <p:cNvSpPr/>
          <p:nvPr/>
        </p:nvSpPr>
        <p:spPr>
          <a:xfrm>
            <a:off x="1097280" y="43799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24281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Feasibility Study</a:t>
            </a:r>
            <a:endParaRPr lang="en-US" sz="1800" dirty="0"/>
          </a:p>
        </p:txBody>
      </p:sp>
      <p:sp>
        <p:nvSpPr>
          <p:cNvPr id="19" name="Index card 5"/>
          <p:cNvSpPr/>
          <p:nvPr/>
        </p:nvSpPr>
        <p:spPr>
          <a:xfrm>
            <a:off x="914400" y="5138928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ndex badge 5"/>
          <p:cNvSpPr/>
          <p:nvPr/>
        </p:nvSpPr>
        <p:spPr>
          <a:xfrm>
            <a:off x="1097280" y="5276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1389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System Design &amp; Architecture</a:t>
            </a:r>
            <a:endParaRPr lang="en-US" sz="1800" dirty="0"/>
          </a:p>
        </p:txBody>
      </p:sp>
      <p:sp>
        <p:nvSpPr>
          <p:cNvPr id="23" name="Index card 6"/>
          <p:cNvSpPr/>
          <p:nvPr/>
        </p:nvSpPr>
        <p:spPr>
          <a:xfrm>
            <a:off x="6309360" y="1554480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ndex badge 6"/>
          <p:cNvSpPr/>
          <p:nvPr/>
        </p:nvSpPr>
        <p:spPr>
          <a:xfrm>
            <a:off x="6492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Database Design &amp; ER Diagram</a:t>
            </a:r>
            <a:endParaRPr lang="en-US" sz="1800" dirty="0"/>
          </a:p>
        </p:txBody>
      </p:sp>
      <p:sp>
        <p:nvSpPr>
          <p:cNvPr id="27" name="Index card 7"/>
          <p:cNvSpPr/>
          <p:nvPr/>
        </p:nvSpPr>
        <p:spPr>
          <a:xfrm>
            <a:off x="6309360" y="2450592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ndex badge 7"/>
          <p:cNvSpPr/>
          <p:nvPr/>
        </p:nvSpPr>
        <p:spPr>
          <a:xfrm>
            <a:off x="6492240" y="2587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24505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SQL Implementation &amp; Results</a:t>
            </a:r>
            <a:endParaRPr lang="en-US" sz="1800" dirty="0"/>
          </a:p>
        </p:txBody>
      </p:sp>
      <p:sp>
        <p:nvSpPr>
          <p:cNvPr id="31" name="Index card 8"/>
          <p:cNvSpPr/>
          <p:nvPr/>
        </p:nvSpPr>
        <p:spPr>
          <a:xfrm>
            <a:off x="6309360" y="3346704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Index badge 8"/>
          <p:cNvSpPr/>
          <p:nvPr/>
        </p:nvSpPr>
        <p:spPr>
          <a:xfrm>
            <a:off x="6492240" y="34838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334670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Application Screenshots</a:t>
            </a:r>
            <a:endParaRPr lang="en-US" sz="1800" dirty="0"/>
          </a:p>
        </p:txBody>
      </p:sp>
      <p:sp>
        <p:nvSpPr>
          <p:cNvPr id="35" name="Index card 9"/>
          <p:cNvSpPr/>
          <p:nvPr/>
        </p:nvSpPr>
        <p:spPr>
          <a:xfrm>
            <a:off x="6309360" y="4242816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Index badge 9"/>
          <p:cNvSpPr/>
          <p:nvPr/>
        </p:nvSpPr>
        <p:spPr>
          <a:xfrm>
            <a:off x="6492240" y="43799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24281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Conclusion &amp; Future Scope</a:t>
            </a:r>
            <a:endParaRPr lang="en-US" sz="1800" dirty="0"/>
          </a:p>
        </p:txBody>
      </p:sp>
      <p:sp>
        <p:nvSpPr>
          <p:cNvPr id="39" name="Index card 10"/>
          <p:cNvSpPr/>
          <p:nvPr/>
        </p:nvSpPr>
        <p:spPr>
          <a:xfrm>
            <a:off x="6309360" y="5138928"/>
            <a:ext cx="5029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Index badge 10"/>
          <p:cNvSpPr/>
          <p:nvPr/>
        </p:nvSpPr>
        <p:spPr>
          <a:xfrm>
            <a:off x="6492240" y="5276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922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51389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References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Introduction / Background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035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Definition: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database-driven desktop application that manages parking lots, slots, vehicles, entry/exit and billing.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Overview: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Python Tkinter front end with a MySQL back end (two-tier), built on a normalized (3NF) schema of nine tables.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Background: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Parking lots still depend on paper tickets and registers, which are slow, error-prone and hard to audit.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Motivation: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Automatic slot allocation, accurate fees and live availability, with a simple multi-tab interface.</a:t>
            </a:r>
            <a:endParaRPr lang="en-US" sz="2000" dirty="0"/>
          </a:p>
        </p:txBody>
      </p:sp>
      <p:sp>
        <p:nvSpPr>
          <p:cNvPr id="4" name="Table card 1"/>
          <p:cNvSpPr/>
          <p:nvPr/>
        </p:nvSpPr>
        <p:spPr>
          <a:xfrm>
            <a:off x="7040880" y="1417320"/>
            <a:ext cx="46634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6948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Vehicles &amp; Owners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1920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vehicle_owners and vehicles: plate number, type, owner name, phone, email</a:t>
            </a:r>
            <a:endParaRPr lang="en-US" sz="1500" dirty="0"/>
          </a:p>
        </p:txBody>
      </p:sp>
      <p:sp>
        <p:nvSpPr>
          <p:cNvPr id="7" name="Table card 2"/>
          <p:cNvSpPr/>
          <p:nvPr/>
        </p:nvSpPr>
        <p:spPr>
          <a:xfrm>
            <a:off x="7040880" y="2971800"/>
            <a:ext cx="46634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6948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Lots &amp; Slots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3474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parking_lots and parking_slots: capacity, slot type and live status</a:t>
            </a:r>
            <a:endParaRPr lang="en-US" sz="1500" dirty="0"/>
          </a:p>
        </p:txBody>
      </p:sp>
      <p:sp>
        <p:nvSpPr>
          <p:cNvPr id="10" name="Table card 3"/>
          <p:cNvSpPr/>
          <p:nvPr/>
        </p:nvSpPr>
        <p:spPr>
          <a:xfrm>
            <a:off x="7040880" y="4526280"/>
            <a:ext cx="46634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Records &amp; Payments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5029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parking_records, payments, reservations and pricing: every visit and its fee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Definition &amp; Objectives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475488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Problem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Manual ticketing causes wrong slot status, duplicate entries, fee calculation errors and long searches for a vehicle.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There is no live view of free slots and no quick daily revenue report.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 database-driven system is needed to allocate slots, bill vehicles and report revenue accurately.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Objectives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01168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Store vehicle, owner, lot and slot data in a normalized 3NF schema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Auto-allocate the first free slot matching the vehicle type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Update slot status automatically with a MySQL trigger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Calculate the fee (hours rounded up × rate) and record payment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Support slot reservations and role-based access (admin / attendant)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Show a live dashboard, history reports and CSV export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Literature Survey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5994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Aspect</a:t>
                      </a:r>
                      <a:endParaRPr lang="en-US" sz="16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Existing system (manual / ticket-based)</a:t>
                      </a:r>
                      <a:endParaRPr lang="en-US" sz="16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Proposed system (MySQL + Python)</a:t>
                      </a:r>
                      <a:endParaRPr lang="en-US" sz="16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Slot allocation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Attendant picks a slot by sight; double allocation possible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Closest matching free slot allocated automatically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Vehicle lookup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Paper tickets and registers; slow to search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Search by plate number with indexed lookup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Fee calculation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Manual time and rate calculation; human errors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Stored procedure: hours rounded up × hourly rate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Slot status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Updated by hand; often out of date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MySQL trigger sets Occupied / Available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Reservations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supported or tracked in notebooks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Book and cancel slots from the GUI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Reporting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Totals counted by hand at end of day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Dashboard, filters, revenue report, CSV export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Manual methods suit a very small lot but become difficult to manage as vehicles, slots and transactions increase.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Feasibility Study</a:t>
            </a:r>
            <a:endParaRPr lang="en-US" sz="3600" dirty="0"/>
          </a:p>
        </p:txBody>
      </p:sp>
      <p:sp>
        <p:nvSpPr>
          <p:cNvPr id="3" name="Feasibility card 1"/>
          <p:cNvSpPr/>
          <p:nvPr/>
        </p:nvSpPr>
        <p:spPr>
          <a:xfrm>
            <a:off x="548640" y="141732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Technical Feasibility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Python 3 with Tkinter and MySQL are mature, well-documented tools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mysql-connector-python links the GUI to the database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Runs on an ordinary PC; MySQL Workbench verifies the data</a:t>
            </a:r>
            <a:endParaRPr lang="en-US" sz="2000" dirty="0"/>
          </a:p>
        </p:txBody>
      </p:sp>
      <p:sp>
        <p:nvSpPr>
          <p:cNvPr id="6" name="Feasibility card 2"/>
          <p:cNvSpPr/>
          <p:nvPr/>
        </p:nvSpPr>
        <p:spPr>
          <a:xfrm>
            <a:off x="4297680" y="141732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Financial / Business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9456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Python, MySQL, Workbench and VS Code are freely available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special hardware or licences needed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Reduces revenue leakage from billing mistakes</a:t>
            </a:r>
            <a:endParaRPr lang="en-US" sz="2000" dirty="0"/>
          </a:p>
        </p:txBody>
      </p:sp>
      <p:sp>
        <p:nvSpPr>
          <p:cNvPr id="9" name="Feasibility card 3"/>
          <p:cNvSpPr/>
          <p:nvPr/>
        </p:nvSpPr>
        <p:spPr>
          <a:xfrm>
            <a:off x="8046720" y="141732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Operational Feasibility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Simple tabbed interface; no SQL knowledge needed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Login, input validation and clear error messages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Replaces paper tickets with faster, accurate records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Design &amp; Architecture</a:t>
            </a:r>
            <a:endParaRPr lang="en-US" sz="3600" dirty="0"/>
          </a:p>
        </p:txBody>
      </p:sp>
      <p:sp>
        <p:nvSpPr>
          <p:cNvPr id="3" name="Client tier card"/>
          <p:cNvSpPr/>
          <p:nvPr/>
        </p:nvSpPr>
        <p:spPr>
          <a:xfrm>
            <a:off x="548640" y="1325880"/>
            <a:ext cx="49377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Client Tier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Python 3 + Tkinter GUI (ttk.Notebook)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Login with admin / attendant roles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Dashboard, Vehicle Entry, Vehicle Exit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Slot Management and Reservations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Records &amp; Reports, Admin Panel</a:t>
            </a:r>
            <a:endParaRPr lang="en-US" sz="1500" dirty="0"/>
          </a:p>
        </p:txBody>
      </p:sp>
      <p:sp>
        <p:nvSpPr>
          <p:cNvPr id="7" name="Database tier card"/>
          <p:cNvSpPr/>
          <p:nvPr/>
        </p:nvSpPr>
        <p:spPr>
          <a:xfrm>
            <a:off x="6702552" y="1325880"/>
            <a:ext cx="49377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31152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Database Tier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931152" y="1828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MySQL Server (3NF, nine tables)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31152" y="2194560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Tables with PK, FK, UNIQUE, CHECK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Trigger: slot status Occupied / Available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Stored procedure: parking fee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View v_lot_availability, index on plate_number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148840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mysql-connector-python</a:t>
            </a:r>
            <a:endParaRPr lang="en-US" sz="1200" dirty="0"/>
          </a:p>
        </p:txBody>
      </p:sp>
      <p:sp>
        <p:nvSpPr>
          <p:cNvPr id="12" name="Tier arrow"/>
          <p:cNvSpPr/>
          <p:nvPr/>
        </p:nvSpPr>
        <p:spPr>
          <a:xfrm>
            <a:off x="5532120" y="2743200"/>
            <a:ext cx="1124712" cy="457200"/>
          </a:xfrm>
          <a:prstGeom prst="left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324612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Parameterized SQL, transactions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Vehicle exit &amp; billing flow</a:t>
            </a:r>
            <a:endParaRPr lang="en-US" sz="2000" dirty="0"/>
          </a:p>
        </p:txBody>
      </p:sp>
      <p:sp>
        <p:nvSpPr>
          <p:cNvPr id="15" name="Flow step 1"/>
          <p:cNvSpPr/>
          <p:nvPr/>
        </p:nvSpPr>
        <p:spPr>
          <a:xfrm>
            <a:off x="548640" y="4800600"/>
            <a:ext cx="166420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48463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Search vehicle by plate number</a:t>
            </a:r>
            <a:endParaRPr lang="en-US" sz="2000" dirty="0"/>
          </a:p>
        </p:txBody>
      </p:sp>
      <p:sp>
        <p:nvSpPr>
          <p:cNvPr id="17" name="Flow arrow 1"/>
          <p:cNvSpPr/>
          <p:nvPr/>
        </p:nvSpPr>
        <p:spPr>
          <a:xfrm>
            <a:off x="2231136" y="5330952"/>
            <a:ext cx="182880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Flow step 2"/>
          <p:cNvSpPr/>
          <p:nvPr/>
        </p:nvSpPr>
        <p:spPr>
          <a:xfrm>
            <a:off x="2432304" y="4800600"/>
            <a:ext cx="1664208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05456" y="48463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Find active record, compute duration</a:t>
            </a:r>
            <a:endParaRPr lang="en-US" sz="2000" dirty="0"/>
          </a:p>
        </p:txBody>
      </p:sp>
      <p:sp>
        <p:nvSpPr>
          <p:cNvPr id="20" name="Flow arrow 2"/>
          <p:cNvSpPr/>
          <p:nvPr/>
        </p:nvSpPr>
        <p:spPr>
          <a:xfrm>
            <a:off x="4114800" y="5330952"/>
            <a:ext cx="182880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Flow step 3"/>
          <p:cNvSpPr/>
          <p:nvPr/>
        </p:nvSpPr>
        <p:spPr>
          <a:xfrm>
            <a:off x="4315968" y="4800600"/>
            <a:ext cx="166420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48463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Fee = hours (rounded up) × rate</a:t>
            </a:r>
            <a:endParaRPr lang="en-US" sz="2000" dirty="0"/>
          </a:p>
        </p:txBody>
      </p:sp>
      <p:sp>
        <p:nvSpPr>
          <p:cNvPr id="23" name="Flow arrow 3"/>
          <p:cNvSpPr/>
          <p:nvPr/>
        </p:nvSpPr>
        <p:spPr>
          <a:xfrm>
            <a:off x="5998464" y="5330952"/>
            <a:ext cx="182880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Flow step 4"/>
          <p:cNvSpPr/>
          <p:nvPr/>
        </p:nvSpPr>
        <p:spPr>
          <a:xfrm>
            <a:off x="6199632" y="4800600"/>
            <a:ext cx="1664208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72784" y="48463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Record payment (Cash / UPI / Card)</a:t>
            </a:r>
            <a:endParaRPr lang="en-US" sz="2000" dirty="0"/>
          </a:p>
        </p:txBody>
      </p:sp>
      <p:sp>
        <p:nvSpPr>
          <p:cNvPr id="26" name="Flow arrow 4"/>
          <p:cNvSpPr/>
          <p:nvPr/>
        </p:nvSpPr>
        <p:spPr>
          <a:xfrm>
            <a:off x="7882128" y="5330952"/>
            <a:ext cx="182880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Flow step 5"/>
          <p:cNvSpPr/>
          <p:nvPr/>
        </p:nvSpPr>
        <p:spPr>
          <a:xfrm>
            <a:off x="8083296" y="4800600"/>
            <a:ext cx="166420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56448" y="48463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Mark record Completed</a:t>
            </a:r>
            <a:endParaRPr lang="en-US" sz="2000" dirty="0"/>
          </a:p>
        </p:txBody>
      </p:sp>
      <p:sp>
        <p:nvSpPr>
          <p:cNvPr id="29" name="Flow arrow 5"/>
          <p:cNvSpPr/>
          <p:nvPr/>
        </p:nvSpPr>
        <p:spPr>
          <a:xfrm>
            <a:off x="9765792" y="5330952"/>
            <a:ext cx="182880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Flow step 6"/>
          <p:cNvSpPr/>
          <p:nvPr/>
        </p:nvSpPr>
        <p:spPr>
          <a:xfrm>
            <a:off x="9966960" y="4800600"/>
            <a:ext cx="1664208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40112" y="48463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Trigger frees the slot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Database Design &amp; ER Diagram</a:t>
            </a:r>
            <a:endParaRPr lang="en-US" sz="3600" dirty="0"/>
          </a:p>
        </p:txBody>
      </p:sp>
      <p:sp>
        <p:nvSpPr>
          <p:cNvPr id="3" name="Entity vehicle_owners"/>
          <p:cNvSpPr/>
          <p:nvPr/>
        </p:nvSpPr>
        <p:spPr>
          <a:xfrm>
            <a:off x="457200" y="1234440"/>
            <a:ext cx="2286000" cy="13716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Entity header vehicle_owners"/>
          <p:cNvSpPr/>
          <p:nvPr/>
        </p:nvSpPr>
        <p:spPr>
          <a:xfrm>
            <a:off x="457200" y="1234440"/>
            <a:ext cx="2286000" cy="32918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vehicle_owners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9344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owner_id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phone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email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7" name="Entity vehicles"/>
          <p:cNvSpPr/>
          <p:nvPr/>
        </p:nvSpPr>
        <p:spPr>
          <a:xfrm>
            <a:off x="3429000" y="1234440"/>
            <a:ext cx="2286000" cy="13716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Entity header vehicles"/>
          <p:cNvSpPr/>
          <p:nvPr/>
        </p:nvSpPr>
        <p:spPr>
          <a:xfrm>
            <a:off x="3429000" y="1234440"/>
            <a:ext cx="2286000" cy="32918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34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vehicles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609344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vehicle_id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plate_number (UNIQUE)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vehicle_type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owner_id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 (FK)</a:t>
            </a:r>
            <a:endParaRPr lang="en-US" sz="1200" dirty="0"/>
          </a:p>
        </p:txBody>
      </p:sp>
      <p:sp>
        <p:nvSpPr>
          <p:cNvPr id="11" name="Entity parking_records"/>
          <p:cNvSpPr/>
          <p:nvPr/>
        </p:nvSpPr>
        <p:spPr>
          <a:xfrm>
            <a:off x="6400800" y="1234440"/>
            <a:ext cx="2286000" cy="1847088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Entity header parking_records"/>
          <p:cNvSpPr/>
          <p:nvPr/>
        </p:nvSpPr>
        <p:spPr>
          <a:xfrm>
            <a:off x="6400800" y="1234440"/>
            <a:ext cx="2286000" cy="32918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234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parking_records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1609344"/>
            <a:ext cx="21031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record_id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vehicle_id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 (FK)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slot_id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 (FK)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entry_time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exit_time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status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15" name="Entity payments"/>
          <p:cNvSpPr/>
          <p:nvPr/>
        </p:nvSpPr>
        <p:spPr>
          <a:xfrm>
            <a:off x="9372600" y="1234440"/>
            <a:ext cx="2286000" cy="1609344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Entity header payments"/>
          <p:cNvSpPr/>
          <p:nvPr/>
        </p:nvSpPr>
        <p:spPr>
          <a:xfrm>
            <a:off x="9372600" y="1234440"/>
            <a:ext cx="2286000" cy="32918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1234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payments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82328" y="160934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payment_id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record_id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 (FK)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amount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payment_mode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payment_time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19" name="Entity reservations"/>
          <p:cNvSpPr/>
          <p:nvPr/>
        </p:nvSpPr>
        <p:spPr>
          <a:xfrm>
            <a:off x="3429000" y="3657600"/>
            <a:ext cx="2286000" cy="1847088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Entity header reservations"/>
          <p:cNvSpPr/>
          <p:nvPr/>
        </p:nvSpPr>
        <p:spPr>
          <a:xfrm>
            <a:off x="3429000" y="3657600"/>
            <a:ext cx="2286000" cy="32918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reservations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38728" y="4032504"/>
            <a:ext cx="21031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reservation_id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vehicle_id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 (FK)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slot_id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 (FK)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reserve_from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reserve_to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status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3" name="Entity parking_slots"/>
          <p:cNvSpPr/>
          <p:nvPr/>
        </p:nvSpPr>
        <p:spPr>
          <a:xfrm>
            <a:off x="6400800" y="3657600"/>
            <a:ext cx="2286000" cy="1609344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Entity header parking_slots"/>
          <p:cNvSpPr/>
          <p:nvPr/>
        </p:nvSpPr>
        <p:spPr>
          <a:xfrm>
            <a:off x="6400800" y="3657600"/>
            <a:ext cx="2286000" cy="32918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parking_slots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10528" y="403250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slot_id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lot_id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 (FK)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slot_number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slot_type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status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7" name="Entity parking_lots"/>
          <p:cNvSpPr/>
          <p:nvPr/>
        </p:nvSpPr>
        <p:spPr>
          <a:xfrm>
            <a:off x="9372600" y="3657600"/>
            <a:ext cx="2286000" cy="13716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Entity header parking_lots"/>
          <p:cNvSpPr/>
          <p:nvPr/>
        </p:nvSpPr>
        <p:spPr>
          <a:xfrm>
            <a:off x="9372600" y="3657600"/>
            <a:ext cx="2286000" cy="32918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72600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parking_lots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82328" y="4032504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lot_id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lot_name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location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total_capacity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31" name="Entity pricing"/>
          <p:cNvSpPr/>
          <p:nvPr/>
        </p:nvSpPr>
        <p:spPr>
          <a:xfrm>
            <a:off x="457200" y="3657600"/>
            <a:ext cx="2286000" cy="896112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Entity header pricing"/>
          <p:cNvSpPr/>
          <p:nvPr/>
        </p:nvSpPr>
        <p:spPr>
          <a:xfrm>
            <a:off x="457200" y="3657600"/>
            <a:ext cx="2286000" cy="32918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pricing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0325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vehicle_type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rate_per_hour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35" name="Entity users"/>
          <p:cNvSpPr/>
          <p:nvPr/>
        </p:nvSpPr>
        <p:spPr>
          <a:xfrm>
            <a:off x="457200" y="4709160"/>
            <a:ext cx="2286000" cy="13716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6" name="Entity header users"/>
          <p:cNvSpPr/>
          <p:nvPr/>
        </p:nvSpPr>
        <p:spPr>
          <a:xfrm>
            <a:off x="457200" y="4709160"/>
            <a:ext cx="2286000" cy="32918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709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users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5084064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user_id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username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password_hash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39" name="Relationship line"/>
          <p:cNvSpPr/>
          <p:nvPr/>
        </p:nvSpPr>
        <p:spPr>
          <a:xfrm>
            <a:off x="2743200" y="1920240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743200" y="1645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154680" y="1645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</a:t>
            </a:r>
            <a:endParaRPr lang="en-US" sz="1300" dirty="0"/>
          </a:p>
        </p:txBody>
      </p:sp>
      <p:sp>
        <p:nvSpPr>
          <p:cNvPr id="42" name="Relationship line"/>
          <p:cNvSpPr/>
          <p:nvPr/>
        </p:nvSpPr>
        <p:spPr>
          <a:xfrm>
            <a:off x="5715000" y="1920240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15000" y="1645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126480" y="1645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</a:t>
            </a:r>
            <a:endParaRPr lang="en-US" sz="1300" dirty="0"/>
          </a:p>
        </p:txBody>
      </p:sp>
      <p:sp>
        <p:nvSpPr>
          <p:cNvPr id="45" name="Relationship line"/>
          <p:cNvSpPr/>
          <p:nvPr/>
        </p:nvSpPr>
        <p:spPr>
          <a:xfrm>
            <a:off x="8686800" y="1920240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86800" y="1645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098280" y="1645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</a:t>
            </a:r>
            <a:endParaRPr lang="en-US" sz="1300" dirty="0"/>
          </a:p>
        </p:txBody>
      </p:sp>
      <p:sp>
        <p:nvSpPr>
          <p:cNvPr id="48" name="Relationship line"/>
          <p:cNvSpPr/>
          <p:nvPr/>
        </p:nvSpPr>
        <p:spPr>
          <a:xfrm>
            <a:off x="4572000" y="2606040"/>
            <a:ext cx="0" cy="10515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617720" y="2624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617720" y="33649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</a:t>
            </a:r>
            <a:endParaRPr lang="en-US" sz="1300" dirty="0"/>
          </a:p>
        </p:txBody>
      </p:sp>
      <p:sp>
        <p:nvSpPr>
          <p:cNvPr id="51" name="Relationship line"/>
          <p:cNvSpPr/>
          <p:nvPr/>
        </p:nvSpPr>
        <p:spPr>
          <a:xfrm>
            <a:off x="7543800" y="3081528"/>
            <a:ext cx="0" cy="57607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589520" y="3099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7589520" y="33649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54" name="Relationship line"/>
          <p:cNvSpPr/>
          <p:nvPr/>
        </p:nvSpPr>
        <p:spPr>
          <a:xfrm>
            <a:off x="5715000" y="4343400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715000" y="4069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126480" y="4069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57" name="Relationship line"/>
          <p:cNvSpPr/>
          <p:nvPr/>
        </p:nvSpPr>
        <p:spPr>
          <a:xfrm>
            <a:off x="8686800" y="4343400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86800" y="4069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9098280" y="4069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3429000" y="5623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Relationships: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owner has many vehicles; one vehicle has many records and reservations; one lot has many slots; one slot has many records and reservations; one record has payments. </a:t>
            </a:r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(FK) = foreign key, underlined = primary key. 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108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pricing and users are standalone (rate is looked up by vehicle_type)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SQL Implementation &amp; Results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Lot Availability (VIEW)</a:t>
            </a:r>
            <a:endParaRPr lang="en-US" sz="1900" dirty="0"/>
          </a:p>
        </p:txBody>
      </p:sp>
      <p:sp>
        <p:nvSpPr>
          <p:cNvPr id="4" name="Code card 1"/>
          <p:cNvSpPr/>
          <p:nvPr/>
        </p:nvSpPr>
        <p:spPr>
          <a:xfrm>
            <a:off x="548640" y="1737360"/>
            <a:ext cx="3611880" cy="3063240"/>
          </a:xfrm>
          <a:prstGeom prst="roundRect">
            <a:avLst>
              <a:gd name="adj" fmla="val 2985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lot_id, lot_name,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location, capacity,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available, occupied,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reserved, maintenance,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occupancy_pct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v_lot_availability;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9377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Live capacity, free, occupied and reserved slots per lot; feeds the dashboard.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280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Active Vehicles (JOIN)</a:t>
            </a:r>
            <a:endParaRPr lang="en-US" sz="1900" dirty="0"/>
          </a:p>
        </p:txBody>
      </p:sp>
      <p:sp>
        <p:nvSpPr>
          <p:cNvPr id="8" name="Code card 2"/>
          <p:cNvSpPr/>
          <p:nvPr/>
        </p:nvSpPr>
        <p:spPr>
          <a:xfrm>
            <a:off x="4297680" y="1737360"/>
            <a:ext cx="3611880" cy="3063240"/>
          </a:xfrm>
          <a:prstGeom prst="roundRect">
            <a:avLst>
              <a:gd name="adj" fmla="val 2985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8288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r.record_id,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v.plate_number,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o.name AS owner,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s.slot_number,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r.entry_time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parking_records 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vehicles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v.vehicle_id = r.vehicle_id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vehicle_owners 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o.owner_id = v.owner_id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parking_slots 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s.slot_id = r.slot_id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r.status = 'Active';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49377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Combines four tables through their keys to list vehicles parked now.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280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Daily Revenue (GROUP BY)</a:t>
            </a:r>
            <a:endParaRPr lang="en-US" sz="1900" dirty="0"/>
          </a:p>
        </p:txBody>
      </p:sp>
      <p:sp>
        <p:nvSpPr>
          <p:cNvPr id="12" name="Code card 3"/>
          <p:cNvSpPr/>
          <p:nvPr/>
        </p:nvSpPr>
        <p:spPr>
          <a:xfrm>
            <a:off x="8046720" y="1737360"/>
            <a:ext cx="3611880" cy="3063240"/>
          </a:xfrm>
          <a:prstGeom prst="roundRect">
            <a:avLst>
              <a:gd name="adj" fmla="val 2985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8288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DATE(payment_time)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day,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SUM(amount) AS revenue,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payments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DATE(payment_time)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day DESC;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49377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Revenue per day using the SUM aggregate; shown in Daily Revenue Analytics.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Verification: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SHOW TABLES in MySQL Workbench confirms the nine tables; output screenshots follow.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Database Tables in MySQL Workbench</a:t>
            </a:r>
            <a:endParaRPr lang="en-US" sz="3600" dirty="0"/>
          </a:p>
        </p:txBody>
      </p:sp>
      <p:pic>
        <p:nvPicPr>
          <p:cNvPr id="3" name="Screenshot vehicles" descr="vehicles table: 13 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415" y="1463040"/>
            <a:ext cx="4993730" cy="3017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vehicles table: 13 records</a:t>
            </a:r>
            <a:endParaRPr lang="en-US" sz="1400" dirty="0"/>
          </a:p>
        </p:txBody>
      </p:sp>
      <p:pic>
        <p:nvPicPr>
          <p:cNvPr id="5" name="Screenshot owners" descr="vehicle_owners table: 13 recor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486400" cy="24761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35040" y="4030643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vehicle_owners table: 13 records</a:t>
            </a:r>
            <a:endParaRPr lang="en-US" sz="1400" dirty="0"/>
          </a:p>
        </p:txBody>
      </p:sp>
      <p:sp>
        <p:nvSpPr>
          <p:cNvPr id="7" name="Note card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Link: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vehicles.owner_id references vehicle_owners.owner_id, so every vehicle belongs to one owner and one owner may have many vehicles. plate_number is UNIQUE and indexed for fast lookup.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Application Screenshots</a:t>
            </a:r>
            <a:endParaRPr lang="en-US" sz="3600" dirty="0"/>
          </a:p>
        </p:txBody>
      </p:sp>
      <p:pic>
        <p:nvPicPr>
          <p:cNvPr id="3" name="Screenshot dashboard" descr="Dashboard: live slots, revenue and parked vehic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486400" cy="2923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5692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Dashboard: live slots, revenue and parked vehicles</a:t>
            </a:r>
            <a:endParaRPr lang="en-US" sz="1400" dirty="0"/>
          </a:p>
        </p:txBody>
      </p:sp>
      <p:pic>
        <p:nvPicPr>
          <p:cNvPr id="5" name="Screenshot entry" descr="Vehicle Entry: auto-allocation and tick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554480"/>
            <a:ext cx="5486400" cy="276373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36792" y="4409657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Vehicle Entry: auto-allocation and ticket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Dashboard: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30 slots across 3 lots, available / occupied / reserved counts, lot utilization from the view.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Entry: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Owner and vehicle details; the first matching free slot is allocated and a ticket generated.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Records, Reports &amp; CSV Export</a:t>
            </a:r>
            <a:endParaRPr lang="en-US" sz="3600" dirty="0"/>
          </a:p>
        </p:txBody>
      </p:sp>
      <p:pic>
        <p:nvPicPr>
          <p:cNvPr id="3" name="Screenshot records" descr="Parking Records History with fil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7315200" cy="327332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91924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Parking Records History with filters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164592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Filter by plate number, status and date range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Shows owner, lot, slot, entry/exit time, payment mode and fee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Daily Revenue Analytics tab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Export to CSV for reporting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852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Demonstrates DBMS concepts using MySQL and Python in a two-tier architecture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Nine normalized (3NF) tables linked with primary and foreign keys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Trigger, stored procedure, view and index automate slot status, fees and availability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Parameterized queries, hashed passwords and transactions keep data safe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Faster entry/exit and accurate reports compared to manual records</a:t>
            </a:r>
            <a:endParaRPr lang="en-US" sz="2000" dirty="0"/>
          </a:p>
        </p:txBody>
      </p:sp>
      <p:sp>
        <p:nvSpPr>
          <p:cNvPr id="5" name="Future scope card"/>
          <p:cNvSpPr/>
          <p:nvPr/>
        </p:nvSpPr>
        <p:spPr>
          <a:xfrm>
            <a:off x="6766560" y="1371600"/>
            <a:ext cx="48920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2103120"/>
            <a:ext cx="4389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Number plate recognition with a camera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Online reservation and UPI QR payment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SMS / email alerts for reservations and dues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Sensor-based slot detection (IoT)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Monthly passes and dynamic pricing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Web or mobile app interface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MySQL Documentation, Oracle Corporation.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MySQL Workbench Documentation, Oracle Corporation.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MySQL Connector/Python Developer Guide, Oracle Corporation.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Python Documentation: tkinter, Python interface to Tcl/Tk, Python Software Foundation.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W3Schools, SQL Tutorial.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GeeksforGeeks, DBMS and SQL Concepts.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Database Management System course notes and classroom materials.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Parking">
  <a:themeElements>
    <a:clrScheme name="Smart Parking">
      <a:dk1>
        <a:srgbClr val="111827"/>
      </a:dk1>
      <a:lt1>
        <a:srgbClr val="FFFFFF"/>
      </a:lt1>
      <a:dk2>
        <a:srgbClr val="1E293B"/>
      </a:dk2>
      <a:lt2>
        <a:srgbClr val="EAF1FD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0EA5E9"/>
      </a:accent5>
      <a:accent6>
        <a:srgbClr val="64748B"/>
      </a:accent6>
      <a:hlink>
        <a:srgbClr val="2563EB"/>
      </a:hlink>
      <a:folHlink>
        <a:srgbClr val="7C3AED"/>
      </a:folHlink>
    </a:clrScheme>
    <a:fontScheme name="Smart Park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Management System</dc:title>
  <dc:subject>PptxGenJS Presentation</dc:subject>
  <dc:creator>PptxGenJS</dc:creator>
  <cp:lastModifiedBy>PptxGenJS</cp:lastModifiedBy>
  <cp:revision>1</cp:revision>
  <dcterms:created xsi:type="dcterms:W3CDTF">2026-10-27T02:36:20Z</dcterms:created>
  <dcterms:modified xsi:type="dcterms:W3CDTF">2026-10-27T02:36:20Z</dcterms:modified>
</cp:coreProperties>
</file>