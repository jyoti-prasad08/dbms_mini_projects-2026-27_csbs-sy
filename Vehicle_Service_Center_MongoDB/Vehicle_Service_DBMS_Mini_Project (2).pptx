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1" r:id="rId2"/>
    <p:sldId id="273" r:id="rId3"/>
    <p:sldId id="274" r:id="rId4"/>
    <p:sldId id="278" r:id="rId5"/>
    <p:sldId id="279" r:id="rId6"/>
    <p:sldId id="283" r:id="rId7"/>
    <p:sldId id="286" r:id="rId8"/>
    <p:sldId id="282" r:id="rId9"/>
    <p:sldId id="287" r:id="rId10"/>
    <p:sldId id="288" r:id="rId11"/>
    <p:sldId id="289" r:id="rId12"/>
    <p:sldId id="28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451254-9B68-41F3-9218-C4BA35887DF1}" v="2" dt="2026-10-13T20:54:05.6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thak Jagtap" userId="a92a4fc00b8e39e7" providerId="LiveId" clId="{3E3AE816-6E25-4BA4-B5D9-11501E9541CB}"/>
    <pc:docChg chg="undo custSel addSld modSld">
      <pc:chgData name="Sarthak Jagtap" userId="a92a4fc00b8e39e7" providerId="LiveId" clId="{3E3AE816-6E25-4BA4-B5D9-11501E9541CB}" dt="2026-10-13T20:55:19.111" v="377" actId="20577"/>
      <pc:docMkLst>
        <pc:docMk/>
      </pc:docMkLst>
      <pc:sldChg chg="modSp mod">
        <pc:chgData name="Sarthak Jagtap" userId="a92a4fc00b8e39e7" providerId="LiveId" clId="{3E3AE816-6E25-4BA4-B5D9-11501E9541CB}" dt="2026-10-13T20:55:19.111" v="377" actId="20577"/>
        <pc:sldMkLst>
          <pc:docMk/>
          <pc:sldMk cId="3602338430" sldId="271"/>
        </pc:sldMkLst>
        <pc:spChg chg="mod">
          <ac:chgData name="Sarthak Jagtap" userId="a92a4fc00b8e39e7" providerId="LiveId" clId="{3E3AE816-6E25-4BA4-B5D9-11501E9541CB}" dt="2026-10-13T20:55:19.111" v="377" actId="20577"/>
          <ac:spMkLst>
            <pc:docMk/>
            <pc:sldMk cId="3602338430" sldId="271"/>
            <ac:spMk id="25" creationId="{A1429130-40B3-459E-8B41-60933F69369B}"/>
          </ac:spMkLst>
        </pc:spChg>
      </pc:sldChg>
      <pc:sldChg chg="addSp delSp modSp mod">
        <pc:chgData name="Sarthak Jagtap" userId="a92a4fc00b8e39e7" providerId="LiveId" clId="{3E3AE816-6E25-4BA4-B5D9-11501E9541CB}" dt="2026-10-13T20:46:08.595" v="82" actId="1076"/>
        <pc:sldMkLst>
          <pc:docMk/>
          <pc:sldMk cId="238661314" sldId="287"/>
        </pc:sldMkLst>
        <pc:spChg chg="add del">
          <ac:chgData name="Sarthak Jagtap" userId="a92a4fc00b8e39e7" providerId="LiveId" clId="{3E3AE816-6E25-4BA4-B5D9-11501E9541CB}" dt="2026-10-13T20:45:46.704" v="77" actId="478"/>
          <ac:spMkLst>
            <pc:docMk/>
            <pc:sldMk cId="238661314" sldId="287"/>
            <ac:spMk id="8" creationId="{00000000-0000-0000-0000-000000000000}"/>
          </ac:spMkLst>
        </pc:spChg>
        <pc:spChg chg="add del mod">
          <ac:chgData name="Sarthak Jagtap" userId="a92a4fc00b8e39e7" providerId="LiveId" clId="{3E3AE816-6E25-4BA4-B5D9-11501E9541CB}" dt="2026-10-13T20:45:44.155" v="76" actId="478"/>
          <ac:spMkLst>
            <pc:docMk/>
            <pc:sldMk cId="238661314" sldId="287"/>
            <ac:spMk id="9" creationId="{00000000-0000-0000-0000-000000000000}"/>
          </ac:spMkLst>
        </pc:spChg>
        <pc:picChg chg="add del mod">
          <ac:chgData name="Sarthak Jagtap" userId="a92a4fc00b8e39e7" providerId="LiveId" clId="{3E3AE816-6E25-4BA4-B5D9-11501E9541CB}" dt="2026-10-13T20:45:08.625" v="22" actId="22"/>
          <ac:picMkLst>
            <pc:docMk/>
            <pc:sldMk cId="238661314" sldId="287"/>
            <ac:picMk id="11" creationId="{D38A6C51-0E26-9D22-D1B0-80F42403B763}"/>
          </ac:picMkLst>
        </pc:picChg>
        <pc:picChg chg="add mod">
          <ac:chgData name="Sarthak Jagtap" userId="a92a4fc00b8e39e7" providerId="LiveId" clId="{3E3AE816-6E25-4BA4-B5D9-11501E9541CB}" dt="2026-10-13T20:45:51.369" v="78" actId="1076"/>
          <ac:picMkLst>
            <pc:docMk/>
            <pc:sldMk cId="238661314" sldId="287"/>
            <ac:picMk id="13" creationId="{A9BF6C8C-4095-9484-D920-D77F21FE91D6}"/>
          </ac:picMkLst>
        </pc:picChg>
        <pc:picChg chg="add mod">
          <ac:chgData name="Sarthak Jagtap" userId="a92a4fc00b8e39e7" providerId="LiveId" clId="{3E3AE816-6E25-4BA4-B5D9-11501E9541CB}" dt="2026-10-13T20:46:08.595" v="82" actId="1076"/>
          <ac:picMkLst>
            <pc:docMk/>
            <pc:sldMk cId="238661314" sldId="287"/>
            <ac:picMk id="15" creationId="{6CC62173-3D62-3344-F50A-6CFD321BAA45}"/>
          </ac:picMkLst>
        </pc:picChg>
      </pc:sldChg>
      <pc:sldChg chg="addSp delSp modSp new mod">
        <pc:chgData name="Sarthak Jagtap" userId="a92a4fc00b8e39e7" providerId="LiveId" clId="{3E3AE816-6E25-4BA4-B5D9-11501E9541CB}" dt="2026-10-13T20:49:48.196" v="135" actId="1076"/>
        <pc:sldMkLst>
          <pc:docMk/>
          <pc:sldMk cId="370737741" sldId="288"/>
        </pc:sldMkLst>
        <pc:spChg chg="del">
          <ac:chgData name="Sarthak Jagtap" userId="a92a4fc00b8e39e7" providerId="LiveId" clId="{3E3AE816-6E25-4BA4-B5D9-11501E9541CB}" dt="2026-10-13T20:44:24.796" v="1" actId="478"/>
          <ac:spMkLst>
            <pc:docMk/>
            <pc:sldMk cId="370737741" sldId="288"/>
            <ac:spMk id="2" creationId="{12D7BAE3-F732-6F62-8934-1A2BE43448CF}"/>
          </ac:spMkLst>
        </pc:spChg>
        <pc:spChg chg="del">
          <ac:chgData name="Sarthak Jagtap" userId="a92a4fc00b8e39e7" providerId="LiveId" clId="{3E3AE816-6E25-4BA4-B5D9-11501E9541CB}" dt="2026-10-13T20:44:27.655" v="2" actId="478"/>
          <ac:spMkLst>
            <pc:docMk/>
            <pc:sldMk cId="370737741" sldId="288"/>
            <ac:spMk id="3" creationId="{FF13AE16-72A6-721B-6F27-E5E5E0F90240}"/>
          </ac:spMkLst>
        </pc:spChg>
        <pc:picChg chg="add del mod">
          <ac:chgData name="Sarthak Jagtap" userId="a92a4fc00b8e39e7" providerId="LiveId" clId="{3E3AE816-6E25-4BA4-B5D9-11501E9541CB}" dt="2026-10-13T20:47:07.724" v="102" actId="478"/>
          <ac:picMkLst>
            <pc:docMk/>
            <pc:sldMk cId="370737741" sldId="288"/>
            <ac:picMk id="5" creationId="{5BD20821-D7D0-4D98-A216-B664C8251BD3}"/>
          </ac:picMkLst>
        </pc:picChg>
        <pc:picChg chg="add del mod">
          <ac:chgData name="Sarthak Jagtap" userId="a92a4fc00b8e39e7" providerId="LiveId" clId="{3E3AE816-6E25-4BA4-B5D9-11501E9541CB}" dt="2026-10-13T20:47:05.475" v="101" actId="478"/>
          <ac:picMkLst>
            <pc:docMk/>
            <pc:sldMk cId="370737741" sldId="288"/>
            <ac:picMk id="7" creationId="{3B171C83-1FCA-BE5A-D9A8-667BE168B234}"/>
          </ac:picMkLst>
        </pc:picChg>
        <pc:picChg chg="add del mod">
          <ac:chgData name="Sarthak Jagtap" userId="a92a4fc00b8e39e7" providerId="LiveId" clId="{3E3AE816-6E25-4BA4-B5D9-11501E9541CB}" dt="2026-10-13T20:47:03.668" v="100" actId="478"/>
          <ac:picMkLst>
            <pc:docMk/>
            <pc:sldMk cId="370737741" sldId="288"/>
            <ac:picMk id="9" creationId="{DCEC3E2F-D9CA-4082-FCA4-CCFE491AD738}"/>
          </ac:picMkLst>
        </pc:picChg>
        <pc:picChg chg="add del mod">
          <ac:chgData name="Sarthak Jagtap" userId="a92a4fc00b8e39e7" providerId="LiveId" clId="{3E3AE816-6E25-4BA4-B5D9-11501E9541CB}" dt="2026-10-13T20:47:02.108" v="99" actId="478"/>
          <ac:picMkLst>
            <pc:docMk/>
            <pc:sldMk cId="370737741" sldId="288"/>
            <ac:picMk id="11" creationId="{619A908F-D4AE-D13C-2585-02F830818209}"/>
          </ac:picMkLst>
        </pc:picChg>
        <pc:picChg chg="add del mod">
          <ac:chgData name="Sarthak Jagtap" userId="a92a4fc00b8e39e7" providerId="LiveId" clId="{3E3AE816-6E25-4BA4-B5D9-11501E9541CB}" dt="2026-10-13T20:47:00.207" v="98" actId="478"/>
          <ac:picMkLst>
            <pc:docMk/>
            <pc:sldMk cId="370737741" sldId="288"/>
            <ac:picMk id="13" creationId="{F10B2B04-D4C6-553C-731E-0CF0799318E5}"/>
          </ac:picMkLst>
        </pc:picChg>
        <pc:picChg chg="add del mod">
          <ac:chgData name="Sarthak Jagtap" userId="a92a4fc00b8e39e7" providerId="LiveId" clId="{3E3AE816-6E25-4BA4-B5D9-11501E9541CB}" dt="2026-10-13T20:46:58.075" v="97" actId="478"/>
          <ac:picMkLst>
            <pc:docMk/>
            <pc:sldMk cId="370737741" sldId="288"/>
            <ac:picMk id="15" creationId="{26A13289-1BA9-8CA3-7391-FB59D86ACA8A}"/>
          </ac:picMkLst>
        </pc:picChg>
        <pc:picChg chg="add mod">
          <ac:chgData name="Sarthak Jagtap" userId="a92a4fc00b8e39e7" providerId="LiveId" clId="{3E3AE816-6E25-4BA4-B5D9-11501E9541CB}" dt="2026-10-13T20:49:30.102" v="131" actId="1076"/>
          <ac:picMkLst>
            <pc:docMk/>
            <pc:sldMk cId="370737741" sldId="288"/>
            <ac:picMk id="17" creationId="{270972EF-6C9A-2696-9060-4862778349FA}"/>
          </ac:picMkLst>
        </pc:picChg>
        <pc:picChg chg="add mod">
          <ac:chgData name="Sarthak Jagtap" userId="a92a4fc00b8e39e7" providerId="LiveId" clId="{3E3AE816-6E25-4BA4-B5D9-11501E9541CB}" dt="2026-10-13T20:49:48.196" v="135" actId="1076"/>
          <ac:picMkLst>
            <pc:docMk/>
            <pc:sldMk cId="370737741" sldId="288"/>
            <ac:picMk id="19" creationId="{39C91368-60A3-4E40-A5BC-0B7462542AED}"/>
          </ac:picMkLst>
        </pc:picChg>
        <pc:picChg chg="add del mod">
          <ac:chgData name="Sarthak Jagtap" userId="a92a4fc00b8e39e7" providerId="LiveId" clId="{3E3AE816-6E25-4BA4-B5D9-11501E9541CB}" dt="2026-10-13T20:46:12.773" v="83" actId="478"/>
          <ac:picMkLst>
            <pc:docMk/>
            <pc:sldMk cId="370737741" sldId="288"/>
            <ac:picMk id="21" creationId="{8627B288-E0CB-F437-FED2-E93B0EDB30B9}"/>
          </ac:picMkLst>
        </pc:picChg>
        <pc:picChg chg="add del mod">
          <ac:chgData name="Sarthak Jagtap" userId="a92a4fc00b8e39e7" providerId="LiveId" clId="{3E3AE816-6E25-4BA4-B5D9-11501E9541CB}" dt="2026-10-13T20:45:54.295" v="79" actId="478"/>
          <ac:picMkLst>
            <pc:docMk/>
            <pc:sldMk cId="370737741" sldId="288"/>
            <ac:picMk id="23" creationId="{EF36136B-A844-A734-AB6F-0C5B1C45E292}"/>
          </ac:picMkLst>
        </pc:picChg>
        <pc:picChg chg="add mod">
          <ac:chgData name="Sarthak Jagtap" userId="a92a4fc00b8e39e7" providerId="LiveId" clId="{3E3AE816-6E25-4BA4-B5D9-11501E9541CB}" dt="2026-10-13T20:49:45.299" v="134" actId="1076"/>
          <ac:picMkLst>
            <pc:docMk/>
            <pc:sldMk cId="370737741" sldId="288"/>
            <ac:picMk id="25" creationId="{B7770FFE-C103-03E7-611F-D974590D2732}"/>
          </ac:picMkLst>
        </pc:picChg>
        <pc:picChg chg="add mod">
          <ac:chgData name="Sarthak Jagtap" userId="a92a4fc00b8e39e7" providerId="LiveId" clId="{3E3AE816-6E25-4BA4-B5D9-11501E9541CB}" dt="2026-10-13T20:49:38.547" v="133" actId="14100"/>
          <ac:picMkLst>
            <pc:docMk/>
            <pc:sldMk cId="370737741" sldId="288"/>
            <ac:picMk id="27" creationId="{445B3494-AC5A-99EC-62B8-ECFC652B2F91}"/>
          </ac:picMkLst>
        </pc:picChg>
      </pc:sldChg>
      <pc:sldChg chg="addSp delSp modSp new mod">
        <pc:chgData name="Sarthak Jagtap" userId="a92a4fc00b8e39e7" providerId="LiveId" clId="{3E3AE816-6E25-4BA4-B5D9-11501E9541CB}" dt="2026-10-13T20:51:35.556" v="171" actId="14100"/>
        <pc:sldMkLst>
          <pc:docMk/>
          <pc:sldMk cId="929586112" sldId="289"/>
        </pc:sldMkLst>
        <pc:spChg chg="del">
          <ac:chgData name="Sarthak Jagtap" userId="a92a4fc00b8e39e7" providerId="LiveId" clId="{3E3AE816-6E25-4BA4-B5D9-11501E9541CB}" dt="2026-10-13T20:49:59.241" v="137" actId="478"/>
          <ac:spMkLst>
            <pc:docMk/>
            <pc:sldMk cId="929586112" sldId="289"/>
            <ac:spMk id="2" creationId="{D82F5D89-BDF6-8F1E-B5B5-161613158BD1}"/>
          </ac:spMkLst>
        </pc:spChg>
        <pc:spChg chg="del">
          <ac:chgData name="Sarthak Jagtap" userId="a92a4fc00b8e39e7" providerId="LiveId" clId="{3E3AE816-6E25-4BA4-B5D9-11501E9541CB}" dt="2026-10-13T20:50:00.706" v="138" actId="478"/>
          <ac:spMkLst>
            <pc:docMk/>
            <pc:sldMk cId="929586112" sldId="289"/>
            <ac:spMk id="3" creationId="{9E3925B6-39F4-54E6-83B4-CE42354D2FBA}"/>
          </ac:spMkLst>
        </pc:spChg>
        <pc:picChg chg="add mod">
          <ac:chgData name="Sarthak Jagtap" userId="a92a4fc00b8e39e7" providerId="LiveId" clId="{3E3AE816-6E25-4BA4-B5D9-11501E9541CB}" dt="2026-10-13T20:51:26.934" v="169" actId="1076"/>
          <ac:picMkLst>
            <pc:docMk/>
            <pc:sldMk cId="929586112" sldId="289"/>
            <ac:picMk id="5" creationId="{425A555D-D5F3-159D-7B4C-328D7BC55A19}"/>
          </ac:picMkLst>
        </pc:picChg>
        <pc:picChg chg="add mod">
          <ac:chgData name="Sarthak Jagtap" userId="a92a4fc00b8e39e7" providerId="LiveId" clId="{3E3AE816-6E25-4BA4-B5D9-11501E9541CB}" dt="2026-10-13T20:51:35.556" v="171" actId="14100"/>
          <ac:picMkLst>
            <pc:docMk/>
            <pc:sldMk cId="929586112" sldId="289"/>
            <ac:picMk id="7" creationId="{92EA25CE-6B46-B2E7-2BD7-C4696FDDD9B3}"/>
          </ac:picMkLst>
        </pc:picChg>
        <pc:picChg chg="add mod">
          <ac:chgData name="Sarthak Jagtap" userId="a92a4fc00b8e39e7" providerId="LiveId" clId="{3E3AE816-6E25-4BA4-B5D9-11501E9541CB}" dt="2026-10-13T20:51:18.248" v="167" actId="14100"/>
          <ac:picMkLst>
            <pc:docMk/>
            <pc:sldMk cId="929586112" sldId="289"/>
            <ac:picMk id="9" creationId="{EE3241DF-9EF2-B41A-2554-64D99FD4358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5E09D7-0ED3-4FB4-968D-50574EBBA179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63A1E-539A-4081-80D9-4186E0CB4B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052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253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782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242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010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748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572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772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962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510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02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99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CAFCF-AC79-4329-BEB1-D88D25EDB3E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871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JSPM s Rajarshi Shahu College of Engineering, Tathawade - 2023 Admission,  Fees, Courses, Ranking, Placement">
            <a:extLst>
              <a:ext uri="{FF2B5EF4-FFF2-40B4-BE49-F238E27FC236}">
                <a16:creationId xmlns:a16="http://schemas.microsoft.com/office/drawing/2014/main" id="{2AC37EFD-D716-4491-B060-F82231047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38665" cy="102473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609B56-7E2F-4878-BFF9-1726B9C0D8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544" y="41200"/>
            <a:ext cx="1003735" cy="9376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7389D3B-D090-41D6-BB8D-F8D1A3EC2634}"/>
              </a:ext>
            </a:extLst>
          </p:cNvPr>
          <p:cNvSpPr txBox="1"/>
          <p:nvPr/>
        </p:nvSpPr>
        <p:spPr>
          <a:xfrm>
            <a:off x="1038666" y="-36784"/>
            <a:ext cx="98098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13232">
              <a:spcBef>
                <a:spcPct val="50000"/>
              </a:spcBef>
              <a:defRPr/>
            </a:pP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JSPM’s </a:t>
            </a:r>
            <a:b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</a:br>
            <a:r>
              <a:rPr lang="en-US" sz="1400" b="1" dirty="0" err="1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Rajarshi</a:t>
            </a: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1400" b="1" dirty="0" err="1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Shahu</a:t>
            </a: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 College of Engineering, </a:t>
            </a:r>
            <a:r>
              <a:rPr lang="en-US" sz="1400" b="1" dirty="0" err="1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Tathawade</a:t>
            </a: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, Pune</a:t>
            </a:r>
            <a:b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</a:br>
            <a:r>
              <a:rPr lang="en-US" sz="12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(An Autonomous Institute affiliated to Savitribai Phule Pune University)</a:t>
            </a:r>
            <a:br>
              <a:rPr lang="en-US" sz="12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</a:br>
            <a:r>
              <a:rPr lang="en-US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Department of Computer Science and Business Systems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2AA1BD-5C37-4898-838A-C1F25A58D660}"/>
              </a:ext>
            </a:extLst>
          </p:cNvPr>
          <p:cNvSpPr txBox="1"/>
          <p:nvPr/>
        </p:nvSpPr>
        <p:spPr>
          <a:xfrm>
            <a:off x="0" y="879554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Academic Year: 2026-27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C74F7D-56E3-4E55-95F0-C0D8C8C11BE8}"/>
              </a:ext>
            </a:extLst>
          </p:cNvPr>
          <p:cNvSpPr txBox="1"/>
          <p:nvPr/>
        </p:nvSpPr>
        <p:spPr>
          <a:xfrm>
            <a:off x="-96688" y="1631304"/>
            <a:ext cx="121920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prstClr val="black"/>
                </a:solidFill>
                <a:latin typeface="Book Antiqua"/>
                <a:ea typeface="+mj-ea"/>
                <a:cs typeface="+mj-cs"/>
              </a:rPr>
              <a:t>Project Title:</a:t>
            </a:r>
            <a:r>
              <a:rPr lang="en-US" sz="2000" dirty="0">
                <a:solidFill>
                  <a:prstClr val="black"/>
                </a:solidFill>
                <a:latin typeface="Book Antiqua"/>
                <a:ea typeface="+mj-ea"/>
                <a:cs typeface="+mj-cs"/>
              </a:rPr>
              <a:t> </a:t>
            </a:r>
            <a:br>
              <a:rPr lang="en-US" sz="2000" dirty="0">
                <a:solidFill>
                  <a:prstClr val="black"/>
                </a:solidFill>
                <a:latin typeface="Book Antiqua"/>
                <a:ea typeface="+mj-ea"/>
                <a:cs typeface="+mj-cs"/>
              </a:rPr>
            </a:br>
            <a:r>
              <a:rPr lang="en-US" sz="2000" b="1" dirty="0">
                <a:solidFill>
                  <a:prstClr val="black"/>
                </a:solidFill>
                <a:latin typeface="Book Antiqua"/>
                <a:ea typeface="+mj-ea"/>
                <a:cs typeface="+mj-cs"/>
              </a:rPr>
              <a:t>“VEHICLE SERVICE AND MAINTENANCE MANAGEMENT SYSTEM”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429130-40B3-459E-8B41-60933F69369B}"/>
              </a:ext>
            </a:extLst>
          </p:cNvPr>
          <p:cNvSpPr txBox="1"/>
          <p:nvPr/>
        </p:nvSpPr>
        <p:spPr>
          <a:xfrm>
            <a:off x="911424" y="2848578"/>
            <a:ext cx="10058400" cy="27864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b="1" dirty="0">
                <a:solidFill>
                  <a:prstClr val="black"/>
                </a:solidFill>
                <a:latin typeface="Book Antiqua"/>
              </a:rPr>
              <a:t>Students Name and PRN no: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 [Sarthak Jagtap] (RBT25CB039)</a:t>
            </a:r>
          </a:p>
          <a:p>
            <a:pPr>
              <a:lnSpc>
                <a:spcPct val="200000"/>
              </a:lnSpc>
              <a:defRPr/>
            </a:pPr>
            <a:r>
              <a:rPr lang="en-US">
                <a:solidFill>
                  <a:prstClr val="black"/>
                </a:solidFill>
                <a:latin typeface="Book Antiqua"/>
              </a:rPr>
              <a:t>                                                    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[Mehul Deogadkar] (RBT25CB027)</a:t>
            </a:r>
            <a:r>
              <a:rPr lang="en-US" b="1" dirty="0">
                <a:solidFill>
                  <a:prstClr val="black"/>
                </a:solidFill>
                <a:latin typeface="Book Antiqua"/>
              </a:rPr>
              <a:t>                                                     </a:t>
            </a:r>
            <a:br>
              <a:rPr lang="en-US" b="1" dirty="0">
                <a:solidFill>
                  <a:prstClr val="black"/>
                </a:solidFill>
                <a:latin typeface="Book Antiqua"/>
              </a:rPr>
            </a:br>
            <a:r>
              <a:rPr lang="en-US" b="1" dirty="0">
                <a:solidFill>
                  <a:prstClr val="black"/>
                </a:solidFill>
                <a:latin typeface="Book Antiqua"/>
              </a:rPr>
              <a:t>Date</a:t>
            </a:r>
            <a:r>
              <a:rPr lang="en-US" b="1">
                <a:solidFill>
                  <a:prstClr val="black"/>
                </a:solidFill>
                <a:latin typeface="Book Antiqua"/>
              </a:rPr>
              <a:t>:</a:t>
            </a:r>
            <a:r>
              <a:rPr lang="en-US">
                <a:solidFill>
                  <a:prstClr val="black"/>
                </a:solidFill>
                <a:latin typeface="Book Antiqua"/>
              </a:rPr>
              <a:t> [13-10-2026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]</a:t>
            </a:r>
          </a:p>
          <a:p>
            <a:pPr>
              <a:lnSpc>
                <a:spcPct val="200000"/>
              </a:lnSpc>
              <a:defRPr/>
            </a:pPr>
            <a:r>
              <a:rPr lang="en-US" b="1" dirty="0">
                <a:solidFill>
                  <a:prstClr val="black"/>
                </a:solidFill>
                <a:latin typeface="Book Antiqua"/>
              </a:rPr>
              <a:t>Course Name: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Database Management System </a:t>
            </a:r>
            <a:endParaRPr lang="en-US" dirty="0">
              <a:solidFill>
                <a:prstClr val="black"/>
              </a:solidFill>
              <a:latin typeface="Book Antiqua"/>
            </a:endParaRPr>
          </a:p>
          <a:p>
            <a:pPr>
              <a:lnSpc>
                <a:spcPct val="200000"/>
              </a:lnSpc>
              <a:defRPr/>
            </a:pPr>
            <a:r>
              <a:rPr lang="en-US" b="1" dirty="0">
                <a:solidFill>
                  <a:prstClr val="black"/>
                </a:solidFill>
                <a:latin typeface="Book Antiqua"/>
              </a:rPr>
              <a:t>Course Coordinator: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Prof. Rutuja S. Bachhav </a:t>
            </a:r>
            <a:endParaRPr lang="en-IN" dirty="0">
              <a:solidFill>
                <a:prstClr val="black"/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3602338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B2341-A07E-40AE-B9DD-ADCB962BA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232D37"/>
                </a:solidFill>
                <a:latin typeface="Book Antiqua" panose="02040602050305030304" pitchFamily="18" charset="0"/>
                <a:ea typeface="+mn-ea"/>
                <a:cs typeface="+mn-cs"/>
              </a:rPr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35491-BB56-4043-A87B-5AFAEC227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&amp; Objectives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&amp; Architecture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&amp; ER Diagram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Implementation &amp; Results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95320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4D90-6573-47F2-857B-6146DAACF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Book Antiqua" panose="02040602050305030304" pitchFamily="18" charset="0"/>
              </a:rPr>
              <a:t>Introduction / Background</a:t>
            </a:r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3520440" cy="4434840"/>
          </a:xfrm>
          <a:prstGeom prst="roundRect">
            <a:avLst>
              <a:gd name="adj" fmla="val 3116"/>
            </a:avLst>
          </a:prstGeom>
          <a:solidFill>
            <a:srgbClr val="F3F5F8"/>
          </a:solidFill>
          <a:ln w="9525">
            <a:solidFill>
              <a:srgbClr val="D5DB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ard"/>
          <p:cNvSpPr/>
          <p:nvPr/>
        </p:nvSpPr>
        <p:spPr>
          <a:xfrm>
            <a:off x="4334256" y="1371600"/>
            <a:ext cx="3520440" cy="4434840"/>
          </a:xfrm>
          <a:prstGeom prst="roundRect">
            <a:avLst>
              <a:gd name="adj" fmla="val 3116"/>
            </a:avLst>
          </a:prstGeom>
          <a:solidFill>
            <a:srgbClr val="F3F5F8"/>
          </a:solidFill>
          <a:ln w="9525">
            <a:solidFill>
              <a:srgbClr val="D5DB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ard"/>
          <p:cNvSpPr/>
          <p:nvPr/>
        </p:nvSpPr>
        <p:spPr>
          <a:xfrm>
            <a:off x="8119871" y="1371600"/>
            <a:ext cx="3520440" cy="4434840"/>
          </a:xfrm>
          <a:prstGeom prst="roundRect">
            <a:avLst>
              <a:gd name="adj" fmla="val 3116"/>
            </a:avLst>
          </a:prstGeom>
          <a:solidFill>
            <a:srgbClr val="F3F5F8"/>
          </a:solidFill>
          <a:ln w="9525">
            <a:solidFill>
              <a:srgbClr val="D5DB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Icon circle FaCar"/>
          <p:cNvSpPr/>
          <p:nvPr/>
        </p:nvSpPr>
        <p:spPr>
          <a:xfrm>
            <a:off x="768096" y="1572768"/>
            <a:ext cx="512064" cy="512064"/>
          </a:xfrm>
          <a:prstGeom prst="ellipse">
            <a:avLst/>
          </a:prstGeom>
          <a:solidFill>
            <a:srgbClr val="E878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con FaCa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691640"/>
            <a:ext cx="274320" cy="274320"/>
          </a:xfrm>
          <a:prstGeom prst="rect">
            <a:avLst/>
          </a:prstGeom>
        </p:spPr>
      </p:pic>
      <p:sp>
        <p:nvSpPr>
          <p:cNvPr id="8" name="Heading Definition &amp; Overview"/>
          <p:cNvSpPr txBox="1"/>
          <p:nvPr/>
        </p:nvSpPr>
        <p:spPr>
          <a:xfrm>
            <a:off x="1417319" y="155448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800" b="1" i="0">
                <a:solidFill>
                  <a:srgbClr val="232D37"/>
                </a:solidFill>
                <a:latin typeface="Calibri"/>
              </a:rPr>
              <a:t>Definition &amp; Overview</a:t>
            </a:r>
          </a:p>
        </p:txBody>
      </p:sp>
      <p:sp>
        <p:nvSpPr>
          <p:cNvPr id="9" name="Definition text"/>
          <p:cNvSpPr txBox="1"/>
          <p:nvPr/>
        </p:nvSpPr>
        <p:spPr>
          <a:xfrm>
            <a:off x="804672" y="2286000"/>
            <a:ext cx="3008376" cy="3383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E8782A"/>
                </a:solidFill>
                <a:latin typeface="Calibri"/>
              </a:rPr>
              <a:t>Definition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232D37"/>
                </a:solidFill>
                <a:latin typeface="Calibri"/>
              </a:rPr>
              <a:t>A database-driven system that manages vehicles, service bookings, mechanics, workshop bays and billing in one place.</a:t>
            </a:r>
          </a:p>
          <a:p>
            <a:pPr>
              <a:spcAft>
                <a:spcPts val="200"/>
              </a:spcAft>
            </a:pPr>
            <a:r>
              <a:rPr sz="1300" b="1" i="0">
                <a:solidFill>
                  <a:srgbClr val="E8782A"/>
                </a:solidFill>
                <a:latin typeface="Calibri"/>
              </a:rPr>
              <a:t>Overview</a:t>
            </a:r>
          </a:p>
          <a:p>
            <a:pPr>
              <a:spcAft>
                <a:spcPts val="900"/>
              </a:spcAft>
            </a:pPr>
            <a:r>
              <a:rPr sz="1400" b="0" i="0">
                <a:solidFill>
                  <a:srgbClr val="232D37"/>
                </a:solidFill>
                <a:latin typeface="Calibri"/>
              </a:rPr>
              <a:t>It links customers, vehicles, services, mechanics, departments, bays and bills, so every job can be tracked from booking to billing.</a:t>
            </a:r>
          </a:p>
          <a:p>
            <a:pPr>
              <a:spcAft>
                <a:spcPts val="200"/>
              </a:spcAft>
            </a:pPr>
            <a:r>
              <a:rPr sz="1300" b="1" i="0">
                <a:solidFill>
                  <a:srgbClr val="E8782A"/>
                </a:solidFill>
                <a:latin typeface="Calibri"/>
              </a:rPr>
              <a:t>Domain context</a:t>
            </a:r>
          </a:p>
          <a:p>
            <a:r>
              <a:rPr sz="1400" b="0" i="0">
                <a:solidFill>
                  <a:srgbClr val="232D37"/>
                </a:solidFill>
                <a:latin typeface="Calibri"/>
              </a:rPr>
              <a:t>Automotive service centres, garages and fleet maintenance.</a:t>
            </a:r>
          </a:p>
        </p:txBody>
      </p:sp>
      <p:sp>
        <p:nvSpPr>
          <p:cNvPr id="10" name="Icon circle FaHistory"/>
          <p:cNvSpPr/>
          <p:nvPr/>
        </p:nvSpPr>
        <p:spPr>
          <a:xfrm>
            <a:off x="4553712" y="1572768"/>
            <a:ext cx="512064" cy="512064"/>
          </a:xfrm>
          <a:prstGeom prst="ellipse">
            <a:avLst/>
          </a:prstGeom>
          <a:solidFill>
            <a:srgbClr val="E878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 FaHisto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583" y="1691640"/>
            <a:ext cx="274320" cy="274320"/>
          </a:xfrm>
          <a:prstGeom prst="rect">
            <a:avLst/>
          </a:prstGeom>
        </p:spPr>
      </p:pic>
      <p:sp>
        <p:nvSpPr>
          <p:cNvPr id="12" name="Heading Evolution / Background"/>
          <p:cNvSpPr txBox="1"/>
          <p:nvPr/>
        </p:nvSpPr>
        <p:spPr>
          <a:xfrm>
            <a:off x="5202936" y="155448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800" b="1" i="0">
                <a:solidFill>
                  <a:srgbClr val="232D37"/>
                </a:solidFill>
                <a:latin typeface="Calibri"/>
              </a:rPr>
              <a:t>Evolution / Background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91456" y="2697479"/>
            <a:ext cx="0" cy="685801"/>
          </a:xfrm>
          <a:prstGeom prst="line">
            <a:avLst/>
          </a:prstGeom>
          <a:ln w="19050">
            <a:solidFill>
              <a:srgbClr val="B8C0CA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4791456" y="3749040"/>
            <a:ext cx="0" cy="685800"/>
          </a:xfrm>
          <a:prstGeom prst="line">
            <a:avLst/>
          </a:prstGeom>
          <a:ln w="19050">
            <a:solidFill>
              <a:srgbClr val="B8C0CA"/>
            </a:solidFill>
          </a:ln>
        </p:spPr>
      </p:cxnSp>
      <p:sp>
        <p:nvSpPr>
          <p:cNvPr id="15" name="Number 1"/>
          <p:cNvSpPr/>
          <p:nvPr/>
        </p:nvSpPr>
        <p:spPr>
          <a:xfrm>
            <a:off x="4608576" y="2331720"/>
            <a:ext cx="365760" cy="365760"/>
          </a:xfrm>
          <a:prstGeom prst="ellipse">
            <a:avLst/>
          </a:prstGeom>
          <a:solidFill>
            <a:srgbClr val="E8782A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Evolution step 1"/>
          <p:cNvSpPr txBox="1"/>
          <p:nvPr/>
        </p:nvSpPr>
        <p:spPr>
          <a:xfrm>
            <a:off x="5157216" y="2313432"/>
            <a:ext cx="24688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100"/>
              </a:spcAft>
            </a:pPr>
            <a:r>
              <a:rPr sz="1500" b="1" i="0">
                <a:solidFill>
                  <a:srgbClr val="232D37"/>
                </a:solidFill>
                <a:latin typeface="Calibri"/>
              </a:rPr>
              <a:t>Paper era</a:t>
            </a:r>
          </a:p>
          <a:p>
            <a:r>
              <a:rPr sz="1400" b="0" i="0">
                <a:solidFill>
                  <a:srgbClr val="232D37"/>
                </a:solidFill>
                <a:latin typeface="Calibri"/>
              </a:rPr>
              <a:t>Job cards, logbooks and service stickers</a:t>
            </a:r>
          </a:p>
        </p:txBody>
      </p:sp>
      <p:sp>
        <p:nvSpPr>
          <p:cNvPr id="17" name="Number 2"/>
          <p:cNvSpPr/>
          <p:nvPr/>
        </p:nvSpPr>
        <p:spPr>
          <a:xfrm>
            <a:off x="4608576" y="3383280"/>
            <a:ext cx="365760" cy="365760"/>
          </a:xfrm>
          <a:prstGeom prst="ellipse">
            <a:avLst/>
          </a:prstGeom>
          <a:solidFill>
            <a:srgbClr val="E8782A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Evolution step 2"/>
          <p:cNvSpPr txBox="1"/>
          <p:nvPr/>
        </p:nvSpPr>
        <p:spPr>
          <a:xfrm>
            <a:off x="5157216" y="3364992"/>
            <a:ext cx="24688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100"/>
              </a:spcAft>
            </a:pPr>
            <a:r>
              <a:rPr sz="1500" b="1" i="0">
                <a:solidFill>
                  <a:srgbClr val="232D37"/>
                </a:solidFill>
                <a:latin typeface="Calibri"/>
              </a:rPr>
              <a:t>Spreadsheet era</a:t>
            </a:r>
          </a:p>
          <a:p>
            <a:r>
              <a:rPr sz="1400" b="0" i="0">
                <a:solidFill>
                  <a:srgbClr val="232D37"/>
                </a:solidFill>
                <a:latin typeface="Calibri"/>
              </a:rPr>
              <a:t>Excel sheets and stand-alone billing tools</a:t>
            </a:r>
          </a:p>
        </p:txBody>
      </p:sp>
      <p:sp>
        <p:nvSpPr>
          <p:cNvPr id="19" name="Number 3"/>
          <p:cNvSpPr/>
          <p:nvPr/>
        </p:nvSpPr>
        <p:spPr>
          <a:xfrm>
            <a:off x="4608576" y="4434840"/>
            <a:ext cx="365760" cy="365760"/>
          </a:xfrm>
          <a:prstGeom prst="ellipse">
            <a:avLst/>
          </a:prstGeom>
          <a:solidFill>
            <a:srgbClr val="E8782A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Evolution step 3"/>
          <p:cNvSpPr txBox="1"/>
          <p:nvPr/>
        </p:nvSpPr>
        <p:spPr>
          <a:xfrm>
            <a:off x="5157216" y="4416552"/>
            <a:ext cx="246888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100"/>
              </a:spcAft>
            </a:pPr>
            <a:r>
              <a:rPr sz="1500" b="1" i="0">
                <a:solidFill>
                  <a:srgbClr val="232D37"/>
                </a:solidFill>
                <a:latin typeface="Calibri"/>
              </a:rPr>
              <a:t>Database era</a:t>
            </a:r>
          </a:p>
          <a:p>
            <a:r>
              <a:rPr sz="1400" b="0" i="0">
                <a:solidFill>
                  <a:srgbClr val="232D37"/>
                </a:solidFill>
                <a:latin typeface="Calibri"/>
              </a:rPr>
              <a:t>Central relational databases, now extended with cloud apps and telematics-based service reminders</a:t>
            </a:r>
          </a:p>
        </p:txBody>
      </p:sp>
      <p:sp>
        <p:nvSpPr>
          <p:cNvPr id="21" name="Icon circle FaBullseye"/>
          <p:cNvSpPr/>
          <p:nvPr/>
        </p:nvSpPr>
        <p:spPr>
          <a:xfrm>
            <a:off x="8339327" y="1572768"/>
            <a:ext cx="512064" cy="512064"/>
          </a:xfrm>
          <a:prstGeom prst="ellipse">
            <a:avLst/>
          </a:prstGeom>
          <a:solidFill>
            <a:srgbClr val="E878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 FaBullsey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199" y="1691640"/>
            <a:ext cx="274320" cy="274320"/>
          </a:xfrm>
          <a:prstGeom prst="rect">
            <a:avLst/>
          </a:prstGeom>
        </p:spPr>
      </p:pic>
      <p:sp>
        <p:nvSpPr>
          <p:cNvPr id="23" name="Heading Why It Matters"/>
          <p:cNvSpPr txBox="1"/>
          <p:nvPr/>
        </p:nvSpPr>
        <p:spPr>
          <a:xfrm>
            <a:off x="8988551" y="155448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800" b="1" i="0">
                <a:solidFill>
                  <a:srgbClr val="232D37"/>
                </a:solidFill>
                <a:latin typeface="Calibri"/>
              </a:rPr>
              <a:t>Why It Matters</a:t>
            </a:r>
          </a:p>
        </p:txBody>
      </p:sp>
      <p:sp>
        <p:nvSpPr>
          <p:cNvPr id="24" name="Icon circle FaShieldAlt"/>
          <p:cNvSpPr/>
          <p:nvPr/>
        </p:nvSpPr>
        <p:spPr>
          <a:xfrm>
            <a:off x="8366759" y="2350008"/>
            <a:ext cx="420624" cy="420624"/>
          </a:xfrm>
          <a:prstGeom prst="ellipse">
            <a:avLst/>
          </a:prstGeom>
          <a:solidFill>
            <a:srgbClr val="232D3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Icon FaShieldAl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344" y="2450591"/>
            <a:ext cx="219456" cy="219456"/>
          </a:xfrm>
          <a:prstGeom prst="rect">
            <a:avLst/>
          </a:prstGeom>
        </p:spPr>
      </p:pic>
      <p:sp>
        <p:nvSpPr>
          <p:cNvPr id="26" name="Why Safety &amp; reliability"/>
          <p:cNvSpPr txBox="1"/>
          <p:nvPr/>
        </p:nvSpPr>
        <p:spPr>
          <a:xfrm>
            <a:off x="8942832" y="2313432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100"/>
              </a:spcAft>
            </a:pPr>
            <a:r>
              <a:rPr sz="1500" b="1" i="0">
                <a:solidFill>
                  <a:srgbClr val="232D37"/>
                </a:solidFill>
                <a:latin typeface="Calibri"/>
              </a:rPr>
              <a:t>Safety &amp; reliability</a:t>
            </a:r>
          </a:p>
          <a:p>
            <a:r>
              <a:rPr sz="1400" b="0" i="0">
                <a:solidFill>
                  <a:srgbClr val="232D37"/>
                </a:solidFill>
                <a:latin typeface="Calibri"/>
              </a:rPr>
              <a:t>Timely servicing prevents breakdowns</a:t>
            </a:r>
          </a:p>
        </p:txBody>
      </p:sp>
      <p:sp>
        <p:nvSpPr>
          <p:cNvPr id="27" name="Icon circle FaCoins"/>
          <p:cNvSpPr/>
          <p:nvPr/>
        </p:nvSpPr>
        <p:spPr>
          <a:xfrm>
            <a:off x="8366759" y="3200400"/>
            <a:ext cx="420624" cy="420624"/>
          </a:xfrm>
          <a:prstGeom prst="ellipse">
            <a:avLst/>
          </a:prstGeom>
          <a:solidFill>
            <a:srgbClr val="232D3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Icon FaCoin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44" y="3300984"/>
            <a:ext cx="219456" cy="219456"/>
          </a:xfrm>
          <a:prstGeom prst="rect">
            <a:avLst/>
          </a:prstGeom>
        </p:spPr>
      </p:pic>
      <p:sp>
        <p:nvSpPr>
          <p:cNvPr id="29" name="Why Cost control"/>
          <p:cNvSpPr txBox="1"/>
          <p:nvPr/>
        </p:nvSpPr>
        <p:spPr>
          <a:xfrm>
            <a:off x="8942832" y="3163824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100"/>
              </a:spcAft>
            </a:pPr>
            <a:r>
              <a:rPr sz="1500" b="1" i="0">
                <a:solidFill>
                  <a:srgbClr val="232D37"/>
                </a:solidFill>
                <a:latin typeface="Calibri"/>
              </a:rPr>
              <a:t>Cost control</a:t>
            </a:r>
          </a:p>
          <a:p>
            <a:r>
              <a:rPr sz="1400" b="0" i="0">
                <a:solidFill>
                  <a:srgbClr val="232D37"/>
                </a:solidFill>
                <a:latin typeface="Calibri"/>
              </a:rPr>
              <a:t>Fewer billing errors and less paperwork</a:t>
            </a:r>
          </a:p>
        </p:txBody>
      </p:sp>
      <p:sp>
        <p:nvSpPr>
          <p:cNvPr id="30" name="Icon circle FaUserCheck"/>
          <p:cNvSpPr/>
          <p:nvPr/>
        </p:nvSpPr>
        <p:spPr>
          <a:xfrm>
            <a:off x="8366759" y="4050791"/>
            <a:ext cx="420624" cy="420624"/>
          </a:xfrm>
          <a:prstGeom prst="ellipse">
            <a:avLst/>
          </a:prstGeom>
          <a:solidFill>
            <a:srgbClr val="232D3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Icon FaUserCheck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7344" y="4151376"/>
            <a:ext cx="219456" cy="219456"/>
          </a:xfrm>
          <a:prstGeom prst="rect">
            <a:avLst/>
          </a:prstGeom>
        </p:spPr>
      </p:pic>
      <p:sp>
        <p:nvSpPr>
          <p:cNvPr id="32" name="Why Customer trust"/>
          <p:cNvSpPr txBox="1"/>
          <p:nvPr/>
        </p:nvSpPr>
        <p:spPr>
          <a:xfrm>
            <a:off x="8942832" y="4014216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100"/>
              </a:spcAft>
            </a:pPr>
            <a:r>
              <a:rPr sz="1500" b="1" i="0">
                <a:solidFill>
                  <a:srgbClr val="232D37"/>
                </a:solidFill>
                <a:latin typeface="Calibri"/>
              </a:rPr>
              <a:t>Customer trust</a:t>
            </a:r>
          </a:p>
          <a:p>
            <a:r>
              <a:rPr sz="1400" b="0" i="0">
                <a:solidFill>
                  <a:srgbClr val="232D37"/>
                </a:solidFill>
                <a:latin typeface="Calibri"/>
              </a:rPr>
              <a:t>Complete service history on demand</a:t>
            </a:r>
          </a:p>
        </p:txBody>
      </p:sp>
      <p:sp>
        <p:nvSpPr>
          <p:cNvPr id="33" name="Icon circle FaChartLine"/>
          <p:cNvSpPr/>
          <p:nvPr/>
        </p:nvSpPr>
        <p:spPr>
          <a:xfrm>
            <a:off x="8366759" y="4901183"/>
            <a:ext cx="420624" cy="420624"/>
          </a:xfrm>
          <a:prstGeom prst="ellipse">
            <a:avLst/>
          </a:prstGeom>
          <a:solidFill>
            <a:srgbClr val="232D3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Icon FaChartLin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7344" y="5001768"/>
            <a:ext cx="219456" cy="219456"/>
          </a:xfrm>
          <a:prstGeom prst="rect">
            <a:avLst/>
          </a:prstGeom>
        </p:spPr>
      </p:pic>
      <p:sp>
        <p:nvSpPr>
          <p:cNvPr id="35" name="Why Better planning"/>
          <p:cNvSpPr txBox="1"/>
          <p:nvPr/>
        </p:nvSpPr>
        <p:spPr>
          <a:xfrm>
            <a:off x="8942832" y="4864608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100"/>
              </a:spcAft>
            </a:pPr>
            <a:r>
              <a:rPr sz="1500" b="1" i="0">
                <a:solidFill>
                  <a:srgbClr val="232D37"/>
                </a:solidFill>
                <a:latin typeface="Calibri"/>
              </a:rPr>
              <a:t>Better planning</a:t>
            </a:r>
          </a:p>
          <a:p>
            <a:r>
              <a:rPr sz="1400" b="0" i="0">
                <a:solidFill>
                  <a:srgbClr val="232D37"/>
                </a:solidFill>
                <a:latin typeface="Calibri"/>
              </a:rPr>
              <a:t>Mechanics and bays used efficiently</a:t>
            </a:r>
          </a:p>
        </p:txBody>
      </p:sp>
      <p:sp>
        <p:nvSpPr>
          <p:cNvPr id="36" name="Banner"/>
          <p:cNvSpPr/>
          <p:nvPr/>
        </p:nvSpPr>
        <p:spPr>
          <a:xfrm>
            <a:off x="548640" y="5943600"/>
            <a:ext cx="11091672" cy="502920"/>
          </a:xfrm>
          <a:prstGeom prst="roundRect">
            <a:avLst>
              <a:gd name="adj" fmla="val 18181"/>
            </a:avLst>
          </a:prstGeom>
          <a:solidFill>
            <a:srgbClr val="232D3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672" y="6039612"/>
            <a:ext cx="310896" cy="310896"/>
          </a:xfrm>
          <a:prstGeom prst="rect">
            <a:avLst/>
          </a:prstGeom>
        </p:spPr>
      </p:pic>
      <p:sp>
        <p:nvSpPr>
          <p:cNvPr id="38" name="Banner text"/>
          <p:cNvSpPr txBox="1"/>
          <p:nvPr/>
        </p:nvSpPr>
        <p:spPr>
          <a:xfrm>
            <a:off x="1298448" y="5943600"/>
            <a:ext cx="10067544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500" b="1" i="0">
                <a:solidFill>
                  <a:srgbClr val="F6A56B"/>
                </a:solidFill>
                <a:latin typeface="Calibri"/>
              </a:rPr>
              <a:t>Technology: 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MySQL   |   SQL   |   MySQL Workbench</a:t>
            </a:r>
          </a:p>
        </p:txBody>
      </p:sp>
    </p:spTree>
    <p:extLst>
      <p:ext uri="{BB962C8B-B14F-4D97-AF65-F5344CB8AC3E}">
        <p14:creationId xmlns:p14="http://schemas.microsoft.com/office/powerpoint/2010/main" val="1983370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DE2CD-E867-43E3-B74F-DB925840D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&amp; Objectives </a:t>
            </a:r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120640" cy="4251960"/>
          </a:xfrm>
          <a:prstGeom prst="roundRect">
            <a:avLst>
              <a:gd name="adj" fmla="val 2580"/>
            </a:avLst>
          </a:prstGeom>
          <a:solidFill>
            <a:srgbClr val="F3F5F8"/>
          </a:solidFill>
          <a:ln w="9525">
            <a:solidFill>
              <a:srgbClr val="D5DB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ard"/>
          <p:cNvSpPr/>
          <p:nvPr/>
        </p:nvSpPr>
        <p:spPr>
          <a:xfrm>
            <a:off x="5943600" y="1371600"/>
            <a:ext cx="5696712" cy="4251960"/>
          </a:xfrm>
          <a:prstGeom prst="roundRect">
            <a:avLst>
              <a:gd name="adj" fmla="val 2580"/>
            </a:avLst>
          </a:prstGeom>
          <a:solidFill>
            <a:srgbClr val="F3F5F8"/>
          </a:solidFill>
          <a:ln w="9525">
            <a:solidFill>
              <a:srgbClr val="D5DB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con circle FaExclamationTriangle"/>
          <p:cNvSpPr/>
          <p:nvPr/>
        </p:nvSpPr>
        <p:spPr>
          <a:xfrm>
            <a:off x="768096" y="1572768"/>
            <a:ext cx="512064" cy="512064"/>
          </a:xfrm>
          <a:prstGeom prst="ellipse">
            <a:avLst/>
          </a:prstGeom>
          <a:solidFill>
            <a:srgbClr val="E878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con FaExclamationTria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691640"/>
            <a:ext cx="274320" cy="274320"/>
          </a:xfrm>
          <a:prstGeom prst="rect">
            <a:avLst/>
          </a:prstGeom>
        </p:spPr>
      </p:pic>
      <p:sp>
        <p:nvSpPr>
          <p:cNvPr id="7" name="Heading Problem Definition"/>
          <p:cNvSpPr txBox="1"/>
          <p:nvPr/>
        </p:nvSpPr>
        <p:spPr>
          <a:xfrm>
            <a:off x="1417319" y="155448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000" b="1" i="0">
                <a:solidFill>
                  <a:srgbClr val="232D37"/>
                </a:solidFill>
                <a:latin typeface="Calibri"/>
              </a:rPr>
              <a:t>Problem Definition</a:t>
            </a:r>
          </a:p>
        </p:txBody>
      </p:sp>
      <p:sp>
        <p:nvSpPr>
          <p:cNvPr id="8" name="Problem statement"/>
          <p:cNvSpPr txBox="1"/>
          <p:nvPr/>
        </p:nvSpPr>
        <p:spPr>
          <a:xfrm>
            <a:off x="822959" y="2286000"/>
            <a:ext cx="457200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500" b="0" i="0">
                <a:solidFill>
                  <a:srgbClr val="232D37"/>
                </a:solidFill>
                <a:latin typeface="Calibri"/>
              </a:rPr>
              <a:t>Service centres still depend on paper job cards and scattered registers. Records are slow to find, bookings and bays clash, and bills contain errors.</a:t>
            </a:r>
          </a:p>
        </p:txBody>
      </p:sp>
      <p:sp>
        <p:nvSpPr>
          <p:cNvPr id="9" name="Key problems"/>
          <p:cNvSpPr txBox="1"/>
          <p:nvPr/>
        </p:nvSpPr>
        <p:spPr>
          <a:xfrm>
            <a:off x="822959" y="3291840"/>
            <a:ext cx="4572000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E8782A"/>
                </a:solidFill>
                <a:latin typeface="Calibri"/>
              </a:rPr>
              <a:t>Key problems</a:t>
            </a:r>
          </a:p>
          <a:p>
            <a:pPr marL="182880" indent="-182880">
              <a:spcAft>
                <a:spcPts val="500"/>
              </a:spcAft>
              <a:buClr>
                <a:srgbClr val="E8782A"/>
              </a:buClr>
              <a:buFont typeface="Arial"/>
              <a:buChar char="•"/>
            </a:pPr>
            <a:r>
              <a:rPr sz="1500" b="0" i="0">
                <a:solidFill>
                  <a:srgbClr val="232D37"/>
                </a:solidFill>
                <a:latin typeface="Calibri"/>
              </a:rPr>
              <a:t>Scattered and duplicate records</a:t>
            </a:r>
          </a:p>
          <a:p>
            <a:pPr marL="182880" indent="-182880">
              <a:spcAft>
                <a:spcPts val="500"/>
              </a:spcAft>
              <a:buClr>
                <a:srgbClr val="E8782A"/>
              </a:buClr>
              <a:buFont typeface="Arial"/>
              <a:buChar char="•"/>
            </a:pPr>
            <a:r>
              <a:rPr sz="1500" b="0" i="0">
                <a:solidFill>
                  <a:srgbClr val="232D37"/>
                </a:solidFill>
                <a:latin typeface="Calibri"/>
              </a:rPr>
              <a:t>Booking and bay clashes</a:t>
            </a:r>
          </a:p>
          <a:p>
            <a:pPr marL="182880" indent="-182880">
              <a:spcAft>
                <a:spcPts val="500"/>
              </a:spcAft>
              <a:buClr>
                <a:srgbClr val="E8782A"/>
              </a:buClr>
              <a:buFont typeface="Arial"/>
              <a:buChar char="•"/>
            </a:pPr>
            <a:r>
              <a:rPr sz="1500" b="0" i="0">
                <a:solidFill>
                  <a:srgbClr val="232D37"/>
                </a:solidFill>
                <a:latin typeface="Calibri"/>
              </a:rPr>
              <a:t>No quick view of a vehicle's service history</a:t>
            </a:r>
          </a:p>
          <a:p>
            <a:pPr marL="182880" indent="-182880">
              <a:spcAft>
                <a:spcPts val="500"/>
              </a:spcAft>
              <a:buClr>
                <a:srgbClr val="E8782A"/>
              </a:buClr>
              <a:buFont typeface="Arial"/>
              <a:buChar char="•"/>
            </a:pPr>
            <a:r>
              <a:rPr sz="1500" b="0" i="0">
                <a:solidFill>
                  <a:srgbClr val="232D37"/>
                </a:solidFill>
                <a:latin typeface="Calibri"/>
              </a:rPr>
              <a:t>No clear record of which mechanic did which job</a:t>
            </a:r>
          </a:p>
          <a:p>
            <a:pPr marL="182880" indent="-182880">
              <a:buClr>
                <a:srgbClr val="E8782A"/>
              </a:buClr>
              <a:buFont typeface="Arial"/>
              <a:buChar char="•"/>
            </a:pPr>
            <a:r>
              <a:rPr sz="1500" b="0" i="0">
                <a:solidFill>
                  <a:srgbClr val="232D37"/>
                </a:solidFill>
                <a:latin typeface="Calibri"/>
              </a:rPr>
              <a:t>Manual billing mistakes</a:t>
            </a:r>
          </a:p>
        </p:txBody>
      </p:sp>
      <p:sp>
        <p:nvSpPr>
          <p:cNvPr id="10" name="Icon circle FaBullseye"/>
          <p:cNvSpPr/>
          <p:nvPr/>
        </p:nvSpPr>
        <p:spPr>
          <a:xfrm>
            <a:off x="6163055" y="1572768"/>
            <a:ext cx="512064" cy="512064"/>
          </a:xfrm>
          <a:prstGeom prst="ellipse">
            <a:avLst/>
          </a:prstGeom>
          <a:solidFill>
            <a:srgbClr val="232D3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con FaBullsey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7" y="1691640"/>
            <a:ext cx="274320" cy="274320"/>
          </a:xfrm>
          <a:prstGeom prst="rect">
            <a:avLst/>
          </a:prstGeom>
        </p:spPr>
      </p:pic>
      <p:sp>
        <p:nvSpPr>
          <p:cNvPr id="12" name="Heading Objectives"/>
          <p:cNvSpPr txBox="1"/>
          <p:nvPr/>
        </p:nvSpPr>
        <p:spPr>
          <a:xfrm>
            <a:off x="6812280" y="1554480"/>
            <a:ext cx="4690872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2000" b="1" i="0">
                <a:solidFill>
                  <a:srgbClr val="232D37"/>
                </a:solidFill>
                <a:latin typeface="Calibri"/>
              </a:rPr>
              <a:t>Objectives</a:t>
            </a:r>
          </a:p>
        </p:txBody>
      </p:sp>
      <p:sp>
        <p:nvSpPr>
          <p:cNvPr id="13" name="Number 1"/>
          <p:cNvSpPr/>
          <p:nvPr/>
        </p:nvSpPr>
        <p:spPr>
          <a:xfrm>
            <a:off x="6217920" y="2304288"/>
            <a:ext cx="365760" cy="365760"/>
          </a:xfrm>
          <a:prstGeom prst="ellipse">
            <a:avLst/>
          </a:prstGeom>
          <a:solidFill>
            <a:srgbClr val="232D37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Objective 1"/>
          <p:cNvSpPr txBox="1"/>
          <p:nvPr/>
        </p:nvSpPr>
        <p:spPr>
          <a:xfrm>
            <a:off x="6812280" y="2240280"/>
            <a:ext cx="459943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500" b="0" i="0">
                <a:solidFill>
                  <a:srgbClr val="232D37"/>
                </a:solidFill>
                <a:latin typeface="Calibri"/>
              </a:rPr>
              <a:t>Centralise customer and vehicle records</a:t>
            </a:r>
          </a:p>
        </p:txBody>
      </p:sp>
      <p:sp>
        <p:nvSpPr>
          <p:cNvPr id="15" name="Number 2"/>
          <p:cNvSpPr/>
          <p:nvPr/>
        </p:nvSpPr>
        <p:spPr>
          <a:xfrm>
            <a:off x="6217920" y="2852928"/>
            <a:ext cx="365760" cy="365760"/>
          </a:xfrm>
          <a:prstGeom prst="ellipse">
            <a:avLst/>
          </a:prstGeom>
          <a:solidFill>
            <a:srgbClr val="232D37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Objective 2"/>
          <p:cNvSpPr txBox="1"/>
          <p:nvPr/>
        </p:nvSpPr>
        <p:spPr>
          <a:xfrm>
            <a:off x="6812280" y="2788920"/>
            <a:ext cx="459943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500" b="0" i="0">
                <a:solidFill>
                  <a:srgbClr val="232D37"/>
                </a:solidFill>
                <a:latin typeface="Calibri"/>
              </a:rPr>
              <a:t>Manage service bookings and service dates</a:t>
            </a:r>
          </a:p>
        </p:txBody>
      </p:sp>
      <p:sp>
        <p:nvSpPr>
          <p:cNvPr id="17" name="Number 3"/>
          <p:cNvSpPr/>
          <p:nvPr/>
        </p:nvSpPr>
        <p:spPr>
          <a:xfrm>
            <a:off x="6217920" y="3401568"/>
            <a:ext cx="365760" cy="365760"/>
          </a:xfrm>
          <a:prstGeom prst="ellipse">
            <a:avLst/>
          </a:prstGeom>
          <a:solidFill>
            <a:srgbClr val="232D37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Objective 3"/>
          <p:cNvSpPr txBox="1"/>
          <p:nvPr/>
        </p:nvSpPr>
        <p:spPr>
          <a:xfrm>
            <a:off x="6812280" y="3337560"/>
            <a:ext cx="459943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500" b="0" i="0">
                <a:solidFill>
                  <a:srgbClr val="232D37"/>
                </a:solidFill>
                <a:latin typeface="Calibri"/>
              </a:rPr>
              <a:t>Assign mechanics by specialization and department</a:t>
            </a:r>
          </a:p>
        </p:txBody>
      </p:sp>
      <p:sp>
        <p:nvSpPr>
          <p:cNvPr id="19" name="Number 4"/>
          <p:cNvSpPr/>
          <p:nvPr/>
        </p:nvSpPr>
        <p:spPr>
          <a:xfrm>
            <a:off x="6217920" y="3950207"/>
            <a:ext cx="365760" cy="365760"/>
          </a:xfrm>
          <a:prstGeom prst="ellipse">
            <a:avLst/>
          </a:prstGeom>
          <a:solidFill>
            <a:srgbClr val="232D37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Objective 4"/>
          <p:cNvSpPr txBox="1"/>
          <p:nvPr/>
        </p:nvSpPr>
        <p:spPr>
          <a:xfrm>
            <a:off x="6812280" y="3886200"/>
            <a:ext cx="459943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500" b="0" i="0">
                <a:solidFill>
                  <a:srgbClr val="232D37"/>
                </a:solidFill>
                <a:latin typeface="Calibri"/>
              </a:rPr>
              <a:t>Track workshop bay allocation and availability</a:t>
            </a:r>
          </a:p>
        </p:txBody>
      </p:sp>
      <p:sp>
        <p:nvSpPr>
          <p:cNvPr id="21" name="Number 5"/>
          <p:cNvSpPr/>
          <p:nvPr/>
        </p:nvSpPr>
        <p:spPr>
          <a:xfrm>
            <a:off x="6217920" y="4498848"/>
            <a:ext cx="365760" cy="365760"/>
          </a:xfrm>
          <a:prstGeom prst="ellipse">
            <a:avLst/>
          </a:prstGeom>
          <a:solidFill>
            <a:srgbClr val="232D37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Objective 5"/>
          <p:cNvSpPr txBox="1"/>
          <p:nvPr/>
        </p:nvSpPr>
        <p:spPr>
          <a:xfrm>
            <a:off x="6812280" y="4434840"/>
            <a:ext cx="459943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500" b="0" i="0">
                <a:solidFill>
                  <a:srgbClr val="232D37"/>
                </a:solidFill>
                <a:latin typeface="Calibri"/>
              </a:rPr>
              <a:t>Generate and store customer bills</a:t>
            </a:r>
          </a:p>
        </p:txBody>
      </p:sp>
      <p:sp>
        <p:nvSpPr>
          <p:cNvPr id="23" name="Number 6"/>
          <p:cNvSpPr/>
          <p:nvPr/>
        </p:nvSpPr>
        <p:spPr>
          <a:xfrm>
            <a:off x="6217920" y="5047488"/>
            <a:ext cx="365760" cy="365760"/>
          </a:xfrm>
          <a:prstGeom prst="ellipse">
            <a:avLst/>
          </a:prstGeom>
          <a:solidFill>
            <a:srgbClr val="232D37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Objective 6"/>
          <p:cNvSpPr txBox="1"/>
          <p:nvPr/>
        </p:nvSpPr>
        <p:spPr>
          <a:xfrm>
            <a:off x="6812280" y="4983480"/>
            <a:ext cx="459943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500" b="0" i="0">
                <a:solidFill>
                  <a:srgbClr val="232D37"/>
                </a:solidFill>
                <a:latin typeface="Calibri"/>
              </a:rPr>
              <a:t>Retrieve data quickly and accurately using SQL</a:t>
            </a:r>
          </a:p>
        </p:txBody>
      </p:sp>
      <p:sp>
        <p:nvSpPr>
          <p:cNvPr id="25" name="Banner"/>
          <p:cNvSpPr/>
          <p:nvPr/>
        </p:nvSpPr>
        <p:spPr>
          <a:xfrm>
            <a:off x="548640" y="5852160"/>
            <a:ext cx="11091672" cy="594360"/>
          </a:xfrm>
          <a:prstGeom prst="roundRect">
            <a:avLst>
              <a:gd name="adj" fmla="val 15384"/>
            </a:avLst>
          </a:prstGeom>
          <a:solidFill>
            <a:srgbClr val="232D3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Banner text"/>
          <p:cNvSpPr txBox="1"/>
          <p:nvPr/>
        </p:nvSpPr>
        <p:spPr>
          <a:xfrm>
            <a:off x="822959" y="5852160"/>
            <a:ext cx="10543032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600" b="1" i="0">
                <a:solidFill>
                  <a:srgbClr val="F6A56B"/>
                </a:solidFill>
                <a:latin typeface="Calibri"/>
              </a:rPr>
              <a:t>Goal: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Replace manual service-centre record keeping with one structured relational database.</a:t>
            </a:r>
          </a:p>
        </p:txBody>
      </p:sp>
    </p:spTree>
    <p:extLst>
      <p:ext uri="{BB962C8B-B14F-4D97-AF65-F5344CB8AC3E}">
        <p14:creationId xmlns:p14="http://schemas.microsoft.com/office/powerpoint/2010/main" val="181757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17A29-E4E0-430B-B67A-F1E02C080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3337560" cy="4389120"/>
          </a:xfrm>
          <a:prstGeom prst="roundRect">
            <a:avLst>
              <a:gd name="adj" fmla="val 3287"/>
            </a:avLst>
          </a:prstGeom>
          <a:solidFill>
            <a:srgbClr val="F3F5F8"/>
          </a:solidFill>
          <a:ln w="9525">
            <a:solidFill>
              <a:srgbClr val="D5DB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ard"/>
          <p:cNvSpPr/>
          <p:nvPr/>
        </p:nvSpPr>
        <p:spPr>
          <a:xfrm>
            <a:off x="4425696" y="1371600"/>
            <a:ext cx="3337560" cy="4389120"/>
          </a:xfrm>
          <a:prstGeom prst="roundRect">
            <a:avLst>
              <a:gd name="adj" fmla="val 3287"/>
            </a:avLst>
          </a:prstGeom>
          <a:solidFill>
            <a:srgbClr val="F3F5F8"/>
          </a:solidFill>
          <a:ln w="9525">
            <a:solidFill>
              <a:srgbClr val="D5DB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ard"/>
          <p:cNvSpPr/>
          <p:nvPr/>
        </p:nvSpPr>
        <p:spPr>
          <a:xfrm>
            <a:off x="8302752" y="1371600"/>
            <a:ext cx="3337560" cy="4389120"/>
          </a:xfrm>
          <a:prstGeom prst="roundRect">
            <a:avLst>
              <a:gd name="adj" fmla="val 3287"/>
            </a:avLst>
          </a:prstGeom>
          <a:solidFill>
            <a:srgbClr val="F3F5F8"/>
          </a:solidFill>
          <a:ln w="9525">
            <a:solidFill>
              <a:srgbClr val="D5DB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Flow arrow"/>
          <p:cNvSpPr/>
          <p:nvPr/>
        </p:nvSpPr>
        <p:spPr>
          <a:xfrm>
            <a:off x="4000500" y="3337560"/>
            <a:ext cx="310896" cy="457200"/>
          </a:xfrm>
          <a:prstGeom prst="chevron">
            <a:avLst/>
          </a:prstGeom>
          <a:solidFill>
            <a:srgbClr val="E878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low arrow"/>
          <p:cNvSpPr/>
          <p:nvPr/>
        </p:nvSpPr>
        <p:spPr>
          <a:xfrm>
            <a:off x="7877556" y="3337560"/>
            <a:ext cx="310896" cy="457200"/>
          </a:xfrm>
          <a:prstGeom prst="chevron">
            <a:avLst/>
          </a:prstGeom>
          <a:solidFill>
            <a:srgbClr val="E878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Icon circle FaFolderOpen"/>
          <p:cNvSpPr/>
          <p:nvPr/>
        </p:nvSpPr>
        <p:spPr>
          <a:xfrm>
            <a:off x="768096" y="1572768"/>
            <a:ext cx="512064" cy="512064"/>
          </a:xfrm>
          <a:prstGeom prst="ellipse">
            <a:avLst/>
          </a:prstGeom>
          <a:solidFill>
            <a:srgbClr val="E878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Icon FaFolderOp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691640"/>
            <a:ext cx="274320" cy="274320"/>
          </a:xfrm>
          <a:prstGeom prst="rect">
            <a:avLst/>
          </a:prstGeom>
        </p:spPr>
      </p:pic>
      <p:sp>
        <p:nvSpPr>
          <p:cNvPr id="10" name="Heading Existing Systems"/>
          <p:cNvSpPr txBox="1"/>
          <p:nvPr/>
        </p:nvSpPr>
        <p:spPr>
          <a:xfrm>
            <a:off x="1417319" y="155448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800" b="1" i="0">
                <a:solidFill>
                  <a:srgbClr val="232D37"/>
                </a:solidFill>
                <a:latin typeface="Calibri"/>
              </a:rPr>
              <a:t>Existing Systems</a:t>
            </a:r>
          </a:p>
        </p:txBody>
      </p:sp>
      <p:sp>
        <p:nvSpPr>
          <p:cNvPr id="11" name="Existing systems"/>
          <p:cNvSpPr txBox="1"/>
          <p:nvPr/>
        </p:nvSpPr>
        <p:spPr>
          <a:xfrm>
            <a:off x="804672" y="2286000"/>
            <a:ext cx="2880360" cy="3383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2880" indent="-182880">
              <a:spcAft>
                <a:spcPts val="1000"/>
              </a:spcAft>
              <a:buClr>
                <a:srgbClr val="E8782A"/>
              </a:buClr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Calibri"/>
              </a:rPr>
              <a:t>Manual job cards and registers</a:t>
            </a:r>
          </a:p>
          <a:p>
            <a:pPr marL="182880" indent="-182880">
              <a:spcAft>
                <a:spcPts val="1000"/>
              </a:spcAft>
              <a:buClr>
                <a:srgbClr val="E8782A"/>
              </a:buClr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Calibri"/>
              </a:rPr>
              <a:t>Spreadsheets (Excel sheets)</a:t>
            </a:r>
          </a:p>
          <a:p>
            <a:pPr marL="182880" indent="-182880">
              <a:spcAft>
                <a:spcPts val="1000"/>
              </a:spcAft>
              <a:buClr>
                <a:srgbClr val="E8782A"/>
              </a:buClr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Calibri"/>
              </a:rPr>
              <a:t>Stand-alone billing or basic workshop software</a:t>
            </a:r>
          </a:p>
          <a:p>
            <a:pPr marL="182880" indent="-182880">
              <a:buClr>
                <a:srgbClr val="E8782A"/>
              </a:buClr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Calibri"/>
              </a:rPr>
              <a:t>Commercial CMMS and dealer software: powerful, but often costly and complex for small workshops</a:t>
            </a:r>
          </a:p>
        </p:txBody>
      </p:sp>
      <p:sp>
        <p:nvSpPr>
          <p:cNvPr id="12" name="Icon circle FaExclamationTriangle"/>
          <p:cNvSpPr/>
          <p:nvPr/>
        </p:nvSpPr>
        <p:spPr>
          <a:xfrm>
            <a:off x="4645151" y="1572768"/>
            <a:ext cx="512064" cy="512064"/>
          </a:xfrm>
          <a:prstGeom prst="ellipse">
            <a:avLst/>
          </a:prstGeom>
          <a:solidFill>
            <a:srgbClr val="E878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Icon FaExclamationTriang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023" y="1691640"/>
            <a:ext cx="274320" cy="274320"/>
          </a:xfrm>
          <a:prstGeom prst="rect">
            <a:avLst/>
          </a:prstGeom>
        </p:spPr>
      </p:pic>
      <p:sp>
        <p:nvSpPr>
          <p:cNvPr id="14" name="Heading Limitations"/>
          <p:cNvSpPr txBox="1"/>
          <p:nvPr/>
        </p:nvSpPr>
        <p:spPr>
          <a:xfrm>
            <a:off x="5294376" y="155448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800" b="1" i="0">
                <a:solidFill>
                  <a:srgbClr val="232D37"/>
                </a:solidFill>
                <a:latin typeface="Calibri"/>
              </a:rPr>
              <a:t>Limitations</a:t>
            </a:r>
          </a:p>
        </p:txBody>
      </p:sp>
      <p:sp>
        <p:nvSpPr>
          <p:cNvPr id="15" name="Limitations"/>
          <p:cNvSpPr txBox="1"/>
          <p:nvPr/>
        </p:nvSpPr>
        <p:spPr>
          <a:xfrm>
            <a:off x="4681728" y="2286000"/>
            <a:ext cx="2880360" cy="3383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2880" indent="-182880">
              <a:spcAft>
                <a:spcPts val="1000"/>
              </a:spcAft>
              <a:buClr>
                <a:srgbClr val="E8782A"/>
              </a:buClr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Calibri"/>
              </a:rPr>
              <a:t>Slow searching of records</a:t>
            </a:r>
          </a:p>
          <a:p>
            <a:pPr marL="182880" indent="-182880">
              <a:spcAft>
                <a:spcPts val="1000"/>
              </a:spcAft>
              <a:buClr>
                <a:srgbClr val="E8782A"/>
              </a:buClr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Calibri"/>
              </a:rPr>
              <a:t>Duplicate and inconsistent data</a:t>
            </a:r>
          </a:p>
          <a:p>
            <a:pPr marL="182880" indent="-182880">
              <a:spcAft>
                <a:spcPts val="1000"/>
              </a:spcAft>
              <a:buClr>
                <a:srgbClr val="E8782A"/>
              </a:buClr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Calibri"/>
              </a:rPr>
              <a:t>No complete service history for each vehicle</a:t>
            </a:r>
          </a:p>
          <a:p>
            <a:pPr marL="182880" indent="-182880">
              <a:spcAft>
                <a:spcPts val="1000"/>
              </a:spcAft>
              <a:buClr>
                <a:srgbClr val="E8782A"/>
              </a:buClr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Calibri"/>
              </a:rPr>
              <a:t>Booking, mechanic and bay clashes</a:t>
            </a:r>
          </a:p>
          <a:p>
            <a:pPr marL="182880" indent="-182880">
              <a:buClr>
                <a:srgbClr val="E8782A"/>
              </a:buClr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Calibri"/>
              </a:rPr>
              <a:t>Higher risk of billing errors</a:t>
            </a:r>
          </a:p>
        </p:txBody>
      </p:sp>
      <p:sp>
        <p:nvSpPr>
          <p:cNvPr id="16" name="Icon circle FaDatabase"/>
          <p:cNvSpPr/>
          <p:nvPr/>
        </p:nvSpPr>
        <p:spPr>
          <a:xfrm>
            <a:off x="8522208" y="1572768"/>
            <a:ext cx="512064" cy="512064"/>
          </a:xfrm>
          <a:prstGeom prst="ellipse">
            <a:avLst/>
          </a:prstGeom>
          <a:solidFill>
            <a:srgbClr val="232D3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Icon FaDatabas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1691640"/>
            <a:ext cx="274320" cy="274320"/>
          </a:xfrm>
          <a:prstGeom prst="rect">
            <a:avLst/>
          </a:prstGeom>
        </p:spPr>
      </p:pic>
      <p:sp>
        <p:nvSpPr>
          <p:cNvPr id="18" name="Heading Proposed Approach"/>
          <p:cNvSpPr txBox="1"/>
          <p:nvPr/>
        </p:nvSpPr>
        <p:spPr>
          <a:xfrm>
            <a:off x="9171432" y="155448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800" b="1" i="0">
                <a:solidFill>
                  <a:srgbClr val="232D37"/>
                </a:solidFill>
                <a:latin typeface="Calibri"/>
              </a:rPr>
              <a:t>Proposed Approach</a:t>
            </a:r>
          </a:p>
        </p:txBody>
      </p:sp>
      <p:sp>
        <p:nvSpPr>
          <p:cNvPr id="19" name="Proposed approach"/>
          <p:cNvSpPr txBox="1"/>
          <p:nvPr/>
        </p:nvSpPr>
        <p:spPr>
          <a:xfrm>
            <a:off x="8558784" y="2286000"/>
            <a:ext cx="2880360" cy="3383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1200"/>
              </a:spcAft>
            </a:pPr>
            <a:r>
              <a:rPr sz="1600" b="0" i="0">
                <a:solidFill>
                  <a:srgbClr val="232D37"/>
                </a:solidFill>
                <a:latin typeface="Calibri"/>
              </a:rPr>
              <a:t>A relational MySQL database links Customer, Vehicle, Service, Mechanic, Department, Bay and Bill through primary and foreign keys.</a:t>
            </a:r>
          </a:p>
          <a:p>
            <a:pPr marL="182880" indent="-182880">
              <a:spcAft>
                <a:spcPts val="1000"/>
              </a:spcAft>
              <a:buClr>
                <a:srgbClr val="E8782A"/>
              </a:buClr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Calibri"/>
              </a:rPr>
              <a:t>Fast, accurate retrieval with SQL</a:t>
            </a:r>
          </a:p>
          <a:p>
            <a:pPr marL="182880" indent="-182880">
              <a:spcAft>
                <a:spcPts val="1000"/>
              </a:spcAft>
              <a:buClr>
                <a:srgbClr val="E8782A"/>
              </a:buClr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Calibri"/>
              </a:rPr>
              <a:t>Open-source and low cost</a:t>
            </a:r>
          </a:p>
          <a:p>
            <a:pPr marL="182880" indent="-182880">
              <a:buClr>
                <a:srgbClr val="E8782A"/>
              </a:buClr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Calibri"/>
              </a:rPr>
              <a:t>Easy to extend with new modules</a:t>
            </a:r>
          </a:p>
        </p:txBody>
      </p:sp>
      <p:sp>
        <p:nvSpPr>
          <p:cNvPr id="20" name="Foundation strip"/>
          <p:cNvSpPr/>
          <p:nvPr/>
        </p:nvSpPr>
        <p:spPr>
          <a:xfrm>
            <a:off x="548640" y="5897880"/>
            <a:ext cx="11091672" cy="548640"/>
          </a:xfrm>
          <a:prstGeom prst="roundRect">
            <a:avLst>
              <a:gd name="adj" fmla="val 16666"/>
            </a:avLst>
          </a:prstGeom>
          <a:solidFill>
            <a:srgbClr val="FCEB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Foundation text"/>
          <p:cNvSpPr txBox="1"/>
          <p:nvPr/>
        </p:nvSpPr>
        <p:spPr>
          <a:xfrm>
            <a:off x="822959" y="5897880"/>
            <a:ext cx="10543032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400" b="1" i="0">
                <a:solidFill>
                  <a:srgbClr val="232D37"/>
                </a:solidFill>
                <a:latin typeface="Calibri"/>
              </a:rPr>
              <a:t>Theoretical foundation:  </a:t>
            </a:r>
            <a:r>
              <a:rPr sz="1400" b="0" i="0">
                <a:solidFill>
                  <a:srgbClr val="232D37"/>
                </a:solidFill>
                <a:latin typeface="Calibri"/>
              </a:rPr>
              <a:t>Relational model, E. F. Codd (1970)   |   Entity–Relationship model, P. P. Chen (1976)</a:t>
            </a:r>
          </a:p>
        </p:txBody>
      </p:sp>
    </p:spTree>
    <p:extLst>
      <p:ext uri="{BB962C8B-B14F-4D97-AF65-F5344CB8AC3E}">
        <p14:creationId xmlns:p14="http://schemas.microsoft.com/office/powerpoint/2010/main" val="1930367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A77F7-0088-48A7-B16F-B6CDD750F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Book Antiqua" panose="02040602050305030304" pitchFamily="18" charset="0"/>
              </a:rPr>
              <a:t>Feasibility Study</a:t>
            </a:r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3520440" cy="4297680"/>
          </a:xfrm>
          <a:prstGeom prst="roundRect">
            <a:avLst>
              <a:gd name="adj" fmla="val 3116"/>
            </a:avLst>
          </a:prstGeom>
          <a:solidFill>
            <a:srgbClr val="F3F5F8"/>
          </a:solidFill>
          <a:ln w="9525">
            <a:solidFill>
              <a:srgbClr val="D5DB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Icon circle FaLaptopCode"/>
          <p:cNvSpPr/>
          <p:nvPr/>
        </p:nvSpPr>
        <p:spPr>
          <a:xfrm>
            <a:off x="768096" y="1572768"/>
            <a:ext cx="512064" cy="512064"/>
          </a:xfrm>
          <a:prstGeom prst="ellipse">
            <a:avLst/>
          </a:prstGeom>
          <a:solidFill>
            <a:srgbClr val="E878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Icon FaLaptopCo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691640"/>
            <a:ext cx="274320" cy="274320"/>
          </a:xfrm>
          <a:prstGeom prst="rect">
            <a:avLst/>
          </a:prstGeom>
        </p:spPr>
      </p:pic>
      <p:sp>
        <p:nvSpPr>
          <p:cNvPr id="6" name="Heading Technical Feasibility"/>
          <p:cNvSpPr txBox="1"/>
          <p:nvPr/>
        </p:nvSpPr>
        <p:spPr>
          <a:xfrm>
            <a:off x="1417319" y="155448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700" b="1" i="0">
                <a:solidFill>
                  <a:srgbClr val="232D37"/>
                </a:solidFill>
                <a:latin typeface="Calibri"/>
              </a:rPr>
              <a:t>Technical Feasibility</a:t>
            </a:r>
          </a:p>
        </p:txBody>
      </p:sp>
      <p:sp>
        <p:nvSpPr>
          <p:cNvPr id="7" name="Technical Feasibility points"/>
          <p:cNvSpPr txBox="1"/>
          <p:nvPr/>
        </p:nvSpPr>
        <p:spPr>
          <a:xfrm>
            <a:off x="804672" y="2286000"/>
            <a:ext cx="3008376" cy="2468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2880" indent="-182880">
              <a:spcAft>
                <a:spcPts val="800"/>
              </a:spcAft>
              <a:buClr>
                <a:srgbClr val="E8782A"/>
              </a:buClr>
              <a:buFont typeface="Arial"/>
              <a:buChar char="•"/>
            </a:pPr>
            <a:r>
              <a:rPr sz="1500" b="0" i="0">
                <a:solidFill>
                  <a:srgbClr val="232D37"/>
                </a:solidFill>
                <a:latin typeface="Calibri"/>
              </a:rPr>
              <a:t>MySQL database with MySQL Workbench</a:t>
            </a:r>
          </a:p>
          <a:p>
            <a:pPr marL="182880" indent="-182880">
              <a:spcAft>
                <a:spcPts val="800"/>
              </a:spcAft>
              <a:buClr>
                <a:srgbClr val="E8782A"/>
              </a:buClr>
              <a:buFont typeface="Arial"/>
              <a:buChar char="•"/>
            </a:pPr>
            <a:r>
              <a:rPr sz="1500" b="0" i="0">
                <a:solidFill>
                  <a:srgbClr val="232D37"/>
                </a:solidFill>
                <a:latin typeface="Calibri"/>
              </a:rPr>
              <a:t>Standard SQL: DDL, DML, joins and constraints</a:t>
            </a:r>
          </a:p>
          <a:p>
            <a:pPr marL="182880" indent="-182880">
              <a:spcAft>
                <a:spcPts val="800"/>
              </a:spcAft>
              <a:buClr>
                <a:srgbClr val="E8782A"/>
              </a:buClr>
              <a:buFont typeface="Arial"/>
              <a:buChar char="•"/>
            </a:pPr>
            <a:r>
              <a:rPr sz="1500" b="0" i="0">
                <a:solidFill>
                  <a:srgbClr val="232D37"/>
                </a:solidFill>
                <a:latin typeface="Calibri"/>
              </a:rPr>
              <a:t>Primary and foreign keys keep data consistent</a:t>
            </a:r>
          </a:p>
          <a:p>
            <a:pPr marL="182880" indent="-182880">
              <a:buClr>
                <a:srgbClr val="E8782A"/>
              </a:buClr>
              <a:buFont typeface="Arial"/>
              <a:buChar char="•"/>
            </a:pPr>
            <a:r>
              <a:rPr sz="1500" b="0" i="0">
                <a:solidFill>
                  <a:srgbClr val="232D37"/>
                </a:solidFill>
                <a:latin typeface="Calibri"/>
              </a:rPr>
              <a:t>Runs on an ordinary PC, no special hardware</a:t>
            </a:r>
          </a:p>
        </p:txBody>
      </p:sp>
      <p:sp>
        <p:nvSpPr>
          <p:cNvPr id="8" name="Verdict pill"/>
          <p:cNvSpPr/>
          <p:nvPr/>
        </p:nvSpPr>
        <p:spPr>
          <a:xfrm>
            <a:off x="804672" y="5047488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E878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5148072"/>
            <a:ext cx="182880" cy="182880"/>
          </a:xfrm>
          <a:prstGeom prst="rect">
            <a:avLst/>
          </a:prstGeom>
        </p:spPr>
      </p:pic>
      <p:sp>
        <p:nvSpPr>
          <p:cNvPr id="10" name="Verdict text"/>
          <p:cNvSpPr txBox="1"/>
          <p:nvPr/>
        </p:nvSpPr>
        <p:spPr>
          <a:xfrm>
            <a:off x="1225295" y="5047488"/>
            <a:ext cx="9601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Feasible</a:t>
            </a:r>
          </a:p>
        </p:txBody>
      </p:sp>
      <p:sp>
        <p:nvSpPr>
          <p:cNvPr id="11" name="Card"/>
          <p:cNvSpPr/>
          <p:nvPr/>
        </p:nvSpPr>
        <p:spPr>
          <a:xfrm>
            <a:off x="4334256" y="1371600"/>
            <a:ext cx="3520440" cy="4297680"/>
          </a:xfrm>
          <a:prstGeom prst="roundRect">
            <a:avLst>
              <a:gd name="adj" fmla="val 3116"/>
            </a:avLst>
          </a:prstGeom>
          <a:solidFill>
            <a:srgbClr val="F3F5F8"/>
          </a:solidFill>
          <a:ln w="9525">
            <a:solidFill>
              <a:srgbClr val="D5DB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Icon circle FaCoins"/>
          <p:cNvSpPr/>
          <p:nvPr/>
        </p:nvSpPr>
        <p:spPr>
          <a:xfrm>
            <a:off x="4553712" y="1572768"/>
            <a:ext cx="512064" cy="512064"/>
          </a:xfrm>
          <a:prstGeom prst="ellipse">
            <a:avLst/>
          </a:prstGeom>
          <a:solidFill>
            <a:srgbClr val="E878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Icon FaCoin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3" y="1691640"/>
            <a:ext cx="274320" cy="274320"/>
          </a:xfrm>
          <a:prstGeom prst="rect">
            <a:avLst/>
          </a:prstGeom>
        </p:spPr>
      </p:pic>
      <p:sp>
        <p:nvSpPr>
          <p:cNvPr id="14" name="Heading Financial / Business"/>
          <p:cNvSpPr txBox="1"/>
          <p:nvPr/>
        </p:nvSpPr>
        <p:spPr>
          <a:xfrm>
            <a:off x="5202936" y="155448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700" b="1" i="0">
                <a:solidFill>
                  <a:srgbClr val="232D37"/>
                </a:solidFill>
                <a:latin typeface="Calibri"/>
              </a:rPr>
              <a:t>Financial / Business</a:t>
            </a:r>
          </a:p>
        </p:txBody>
      </p:sp>
      <p:sp>
        <p:nvSpPr>
          <p:cNvPr id="15" name="Financial / Business points"/>
          <p:cNvSpPr txBox="1"/>
          <p:nvPr/>
        </p:nvSpPr>
        <p:spPr>
          <a:xfrm>
            <a:off x="4590288" y="2286000"/>
            <a:ext cx="3008376" cy="2468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2880" indent="-182880">
              <a:spcAft>
                <a:spcPts val="800"/>
              </a:spcAft>
              <a:buClr>
                <a:srgbClr val="E8782A"/>
              </a:buClr>
              <a:buFont typeface="Arial"/>
              <a:buChar char="•"/>
            </a:pPr>
            <a:r>
              <a:rPr sz="1500" b="0" i="0">
                <a:solidFill>
                  <a:srgbClr val="232D37"/>
                </a:solidFill>
                <a:latin typeface="Calibri"/>
              </a:rPr>
              <a:t>MySQL Community Edition is free and open source</a:t>
            </a:r>
          </a:p>
          <a:p>
            <a:pPr marL="182880" indent="-182880">
              <a:spcAft>
                <a:spcPts val="800"/>
              </a:spcAft>
              <a:buClr>
                <a:srgbClr val="E8782A"/>
              </a:buClr>
              <a:buFont typeface="Arial"/>
              <a:buChar char="•"/>
            </a:pPr>
            <a:r>
              <a:rPr sz="1500" b="0" i="0">
                <a:solidFill>
                  <a:srgbClr val="232D37"/>
                </a:solidFill>
                <a:latin typeface="Calibri"/>
              </a:rPr>
              <a:t>Low development and maintenance cost</a:t>
            </a:r>
          </a:p>
          <a:p>
            <a:pPr marL="182880" indent="-182880">
              <a:spcAft>
                <a:spcPts val="800"/>
              </a:spcAft>
              <a:buClr>
                <a:srgbClr val="E8782A"/>
              </a:buClr>
              <a:buFont typeface="Arial"/>
              <a:buChar char="•"/>
            </a:pPr>
            <a:r>
              <a:rPr sz="1500" b="0" i="0">
                <a:solidFill>
                  <a:srgbClr val="232D37"/>
                </a:solidFill>
                <a:latin typeface="Calibri"/>
              </a:rPr>
              <a:t>Saves staff time on searching and data entry</a:t>
            </a:r>
          </a:p>
          <a:p>
            <a:pPr marL="182880" indent="-182880">
              <a:buClr>
                <a:srgbClr val="E8782A"/>
              </a:buClr>
              <a:buFont typeface="Arial"/>
              <a:buChar char="•"/>
            </a:pPr>
            <a:r>
              <a:rPr sz="1500" b="0" i="0">
                <a:solidFill>
                  <a:srgbClr val="232D37"/>
                </a:solidFill>
                <a:latin typeface="Calibri"/>
              </a:rPr>
              <a:t>Fewer billing errors protect revenue</a:t>
            </a:r>
          </a:p>
        </p:txBody>
      </p:sp>
      <p:sp>
        <p:nvSpPr>
          <p:cNvPr id="16" name="Verdict pill"/>
          <p:cNvSpPr/>
          <p:nvPr/>
        </p:nvSpPr>
        <p:spPr>
          <a:xfrm>
            <a:off x="4590288" y="5047488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E878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5148072"/>
            <a:ext cx="182880" cy="182880"/>
          </a:xfrm>
          <a:prstGeom prst="rect">
            <a:avLst/>
          </a:prstGeom>
        </p:spPr>
      </p:pic>
      <p:sp>
        <p:nvSpPr>
          <p:cNvPr id="18" name="Verdict text"/>
          <p:cNvSpPr txBox="1"/>
          <p:nvPr/>
        </p:nvSpPr>
        <p:spPr>
          <a:xfrm>
            <a:off x="5010912" y="5047488"/>
            <a:ext cx="9601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Feasible</a:t>
            </a:r>
          </a:p>
        </p:txBody>
      </p:sp>
      <p:sp>
        <p:nvSpPr>
          <p:cNvPr id="19" name="Card"/>
          <p:cNvSpPr/>
          <p:nvPr/>
        </p:nvSpPr>
        <p:spPr>
          <a:xfrm>
            <a:off x="8119871" y="1371600"/>
            <a:ext cx="3520440" cy="4297680"/>
          </a:xfrm>
          <a:prstGeom prst="roundRect">
            <a:avLst>
              <a:gd name="adj" fmla="val 3116"/>
            </a:avLst>
          </a:prstGeom>
          <a:solidFill>
            <a:srgbClr val="F3F5F8"/>
          </a:solidFill>
          <a:ln w="9525">
            <a:solidFill>
              <a:srgbClr val="D5DB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Icon circle FaCogs"/>
          <p:cNvSpPr/>
          <p:nvPr/>
        </p:nvSpPr>
        <p:spPr>
          <a:xfrm>
            <a:off x="8339327" y="1572768"/>
            <a:ext cx="512064" cy="512064"/>
          </a:xfrm>
          <a:prstGeom prst="ellipse">
            <a:avLst/>
          </a:prstGeom>
          <a:solidFill>
            <a:srgbClr val="E878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Icon FaCog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199" y="1691640"/>
            <a:ext cx="274320" cy="274320"/>
          </a:xfrm>
          <a:prstGeom prst="rect">
            <a:avLst/>
          </a:prstGeom>
        </p:spPr>
      </p:pic>
      <p:sp>
        <p:nvSpPr>
          <p:cNvPr id="22" name="Heading Operational Feasibility"/>
          <p:cNvSpPr txBox="1"/>
          <p:nvPr/>
        </p:nvSpPr>
        <p:spPr>
          <a:xfrm>
            <a:off x="8988551" y="155448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700" b="1" i="0">
                <a:solidFill>
                  <a:srgbClr val="232D37"/>
                </a:solidFill>
                <a:latin typeface="Calibri"/>
              </a:rPr>
              <a:t>Operational Feasibility</a:t>
            </a:r>
          </a:p>
        </p:txBody>
      </p:sp>
      <p:sp>
        <p:nvSpPr>
          <p:cNvPr id="23" name="Operational Feasibility points"/>
          <p:cNvSpPr txBox="1"/>
          <p:nvPr/>
        </p:nvSpPr>
        <p:spPr>
          <a:xfrm>
            <a:off x="8375903" y="2286000"/>
            <a:ext cx="3008376" cy="2468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2880" indent="-182880">
              <a:spcAft>
                <a:spcPts val="800"/>
              </a:spcAft>
              <a:buClr>
                <a:srgbClr val="E8782A"/>
              </a:buClr>
              <a:buFont typeface="Arial"/>
              <a:buChar char="•"/>
            </a:pPr>
            <a:r>
              <a:rPr sz="1500" b="0" i="0">
                <a:solidFill>
                  <a:srgbClr val="232D37"/>
                </a:solidFill>
                <a:latin typeface="Calibri"/>
              </a:rPr>
              <a:t>Simple 7-entity design that is easy to learn</a:t>
            </a:r>
          </a:p>
          <a:p>
            <a:pPr marL="182880" indent="-182880">
              <a:spcAft>
                <a:spcPts val="800"/>
              </a:spcAft>
              <a:buClr>
                <a:srgbClr val="E8782A"/>
              </a:buClr>
              <a:buFont typeface="Arial"/>
              <a:buChar char="•"/>
            </a:pPr>
            <a:r>
              <a:rPr sz="1500" b="0" i="0">
                <a:solidFill>
                  <a:srgbClr val="232D37"/>
                </a:solidFill>
                <a:latin typeface="Calibri"/>
              </a:rPr>
              <a:t>Faster booking, mechanic assignment and billing</a:t>
            </a:r>
          </a:p>
          <a:p>
            <a:pPr marL="182880" indent="-182880">
              <a:spcAft>
                <a:spcPts val="800"/>
              </a:spcAft>
              <a:buClr>
                <a:srgbClr val="E8782A"/>
              </a:buClr>
              <a:buFont typeface="Arial"/>
              <a:buChar char="•"/>
            </a:pPr>
            <a:r>
              <a:rPr sz="1500" b="0" i="0">
                <a:solidFill>
                  <a:srgbClr val="232D37"/>
                </a:solidFill>
                <a:latin typeface="Calibri"/>
              </a:rPr>
              <a:t>Staff can find any record with a simple query</a:t>
            </a:r>
          </a:p>
          <a:p>
            <a:pPr marL="182880" indent="-182880">
              <a:buClr>
                <a:srgbClr val="E8782A"/>
              </a:buClr>
              <a:buFont typeface="Arial"/>
              <a:buChar char="•"/>
            </a:pPr>
            <a:r>
              <a:rPr sz="1500" b="0" i="0">
                <a:solidFill>
                  <a:srgbClr val="232D37"/>
                </a:solidFill>
                <a:latin typeface="Calibri"/>
              </a:rPr>
              <a:t>Easy to extend with new modules later</a:t>
            </a:r>
          </a:p>
        </p:txBody>
      </p:sp>
      <p:sp>
        <p:nvSpPr>
          <p:cNvPr id="24" name="Verdict pill"/>
          <p:cNvSpPr/>
          <p:nvPr/>
        </p:nvSpPr>
        <p:spPr>
          <a:xfrm>
            <a:off x="8375903" y="5047488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E878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5148072"/>
            <a:ext cx="182880" cy="182880"/>
          </a:xfrm>
          <a:prstGeom prst="rect">
            <a:avLst/>
          </a:prstGeom>
        </p:spPr>
      </p:pic>
      <p:sp>
        <p:nvSpPr>
          <p:cNvPr id="26" name="Verdict text"/>
          <p:cNvSpPr txBox="1"/>
          <p:nvPr/>
        </p:nvSpPr>
        <p:spPr>
          <a:xfrm>
            <a:off x="8796528" y="5047488"/>
            <a:ext cx="9601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Feasible</a:t>
            </a:r>
          </a:p>
        </p:txBody>
      </p:sp>
      <p:sp>
        <p:nvSpPr>
          <p:cNvPr id="27" name="Banner"/>
          <p:cNvSpPr/>
          <p:nvPr/>
        </p:nvSpPr>
        <p:spPr>
          <a:xfrm>
            <a:off x="548640" y="5852160"/>
            <a:ext cx="11091672" cy="594360"/>
          </a:xfrm>
          <a:prstGeom prst="roundRect">
            <a:avLst>
              <a:gd name="adj" fmla="val 15384"/>
            </a:avLst>
          </a:prstGeom>
          <a:solidFill>
            <a:srgbClr val="232D3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5993892"/>
            <a:ext cx="310896" cy="310896"/>
          </a:xfrm>
          <a:prstGeom prst="rect">
            <a:avLst/>
          </a:prstGeom>
        </p:spPr>
      </p:pic>
      <p:sp>
        <p:nvSpPr>
          <p:cNvPr id="29" name="Banner text"/>
          <p:cNvSpPr txBox="1"/>
          <p:nvPr/>
        </p:nvSpPr>
        <p:spPr>
          <a:xfrm>
            <a:off x="1298448" y="5852160"/>
            <a:ext cx="10067544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600" b="1" i="0">
                <a:solidFill>
                  <a:srgbClr val="F6A56B"/>
                </a:solidFill>
                <a:latin typeface="Calibri"/>
              </a:rPr>
              <a:t>Conclusion: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The project is technically, financially and operationally feasible.</a:t>
            </a:r>
          </a:p>
        </p:txBody>
      </p:sp>
    </p:spTree>
    <p:extLst>
      <p:ext uri="{BB962C8B-B14F-4D97-AF65-F5344CB8AC3E}">
        <p14:creationId xmlns:p14="http://schemas.microsoft.com/office/powerpoint/2010/main" val="1151987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088AD-B1BC-4643-B1DF-6F3D0D7D1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&amp; Architecture </a:t>
            </a:r>
          </a:p>
        </p:txBody>
      </p:sp>
      <p:sp>
        <p:nvSpPr>
          <p:cNvPr id="3" name="Users box"/>
          <p:cNvSpPr/>
          <p:nvPr/>
        </p:nvSpPr>
        <p:spPr>
          <a:xfrm>
            <a:off x="548640" y="1371600"/>
            <a:ext cx="5669280" cy="777240"/>
          </a:xfrm>
          <a:prstGeom prst="roundRect">
            <a:avLst>
              <a:gd name="adj" fmla="val 14117"/>
            </a:avLst>
          </a:prstGeom>
          <a:solidFill>
            <a:srgbClr val="F3F5F8"/>
          </a:solidFill>
          <a:ln w="9525">
            <a:solidFill>
              <a:srgbClr val="D5DB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Icon circle FaUsers"/>
          <p:cNvSpPr/>
          <p:nvPr/>
        </p:nvSpPr>
        <p:spPr>
          <a:xfrm>
            <a:off x="822959" y="1531620"/>
            <a:ext cx="457200" cy="457200"/>
          </a:xfrm>
          <a:prstGeom prst="ellipse">
            <a:avLst/>
          </a:prstGeom>
          <a:solidFill>
            <a:srgbClr val="232D3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Icon FaUse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641348"/>
            <a:ext cx="237744" cy="237744"/>
          </a:xfrm>
          <a:prstGeom prst="rect">
            <a:avLst/>
          </a:prstGeom>
        </p:spPr>
      </p:pic>
      <p:sp>
        <p:nvSpPr>
          <p:cNvPr id="6" name="Users text"/>
          <p:cNvSpPr txBox="1"/>
          <p:nvPr/>
        </p:nvSpPr>
        <p:spPr>
          <a:xfrm>
            <a:off x="1508760" y="1371600"/>
            <a:ext cx="452628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100"/>
              </a:spcAft>
            </a:pPr>
            <a:r>
              <a:rPr sz="1600" b="1" i="0">
                <a:solidFill>
                  <a:srgbClr val="232D37"/>
                </a:solidFill>
                <a:latin typeface="Calibri"/>
              </a:rPr>
              <a:t>Users</a:t>
            </a:r>
          </a:p>
          <a:p>
            <a:r>
              <a:rPr sz="1400" b="0" i="0">
                <a:solidFill>
                  <a:srgbClr val="232D37"/>
                </a:solidFill>
                <a:latin typeface="Calibri"/>
              </a:rPr>
              <a:t>Customer  ·  Service Advisor  ·  Workshop Admin</a:t>
            </a:r>
          </a:p>
        </p:txBody>
      </p:sp>
      <p:sp>
        <p:nvSpPr>
          <p:cNvPr id="7" name="Flow arrow"/>
          <p:cNvSpPr/>
          <p:nvPr/>
        </p:nvSpPr>
        <p:spPr>
          <a:xfrm>
            <a:off x="3227832" y="2185416"/>
            <a:ext cx="310896" cy="228600"/>
          </a:xfrm>
          <a:prstGeom prst="downArrow">
            <a:avLst/>
          </a:prstGeom>
          <a:solidFill>
            <a:srgbClr val="E878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ystem box"/>
          <p:cNvSpPr/>
          <p:nvPr/>
        </p:nvSpPr>
        <p:spPr>
          <a:xfrm>
            <a:off x="548640" y="2450592"/>
            <a:ext cx="5669280" cy="1097280"/>
          </a:xfrm>
          <a:prstGeom prst="roundRect">
            <a:avLst>
              <a:gd name="adj" fmla="val 10000"/>
            </a:avLst>
          </a:prstGeom>
          <a:solidFill>
            <a:srgbClr val="232D3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ystem text"/>
          <p:cNvSpPr txBox="1"/>
          <p:nvPr/>
        </p:nvSpPr>
        <p:spPr>
          <a:xfrm>
            <a:off x="822959" y="2450592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Vehicle Service &amp; Maintenance Management System</a:t>
            </a:r>
          </a:p>
          <a:p>
            <a:r>
              <a:rPr sz="1400" b="0" i="0">
                <a:solidFill>
                  <a:srgbClr val="D9DEE5"/>
                </a:solidFill>
                <a:latin typeface="Calibri"/>
              </a:rPr>
              <a:t>SQL: booking, mechanic assignment, bay allocation, billing</a:t>
            </a:r>
          </a:p>
        </p:txBody>
      </p:sp>
      <p:sp>
        <p:nvSpPr>
          <p:cNvPr id="10" name="Flow arrow"/>
          <p:cNvSpPr/>
          <p:nvPr/>
        </p:nvSpPr>
        <p:spPr>
          <a:xfrm>
            <a:off x="3227832" y="3584448"/>
            <a:ext cx="310896" cy="228600"/>
          </a:xfrm>
          <a:prstGeom prst="downArrow">
            <a:avLst/>
          </a:prstGeom>
          <a:solidFill>
            <a:srgbClr val="E878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atabase box"/>
          <p:cNvSpPr/>
          <p:nvPr/>
        </p:nvSpPr>
        <p:spPr>
          <a:xfrm>
            <a:off x="548640" y="3849624"/>
            <a:ext cx="5669280" cy="777240"/>
          </a:xfrm>
          <a:prstGeom prst="roundRect">
            <a:avLst>
              <a:gd name="adj" fmla="val 14117"/>
            </a:avLst>
          </a:prstGeom>
          <a:solidFill>
            <a:srgbClr val="FCEBDD"/>
          </a:solidFill>
          <a:ln w="12700">
            <a:solidFill>
              <a:srgbClr val="E8782A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Icon circle FaDatabase"/>
          <p:cNvSpPr/>
          <p:nvPr/>
        </p:nvSpPr>
        <p:spPr>
          <a:xfrm>
            <a:off x="822959" y="4009644"/>
            <a:ext cx="457200" cy="457200"/>
          </a:xfrm>
          <a:prstGeom prst="ellipse">
            <a:avLst/>
          </a:prstGeom>
          <a:solidFill>
            <a:srgbClr val="E878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Icon Fa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119372"/>
            <a:ext cx="237744" cy="237744"/>
          </a:xfrm>
          <a:prstGeom prst="rect">
            <a:avLst/>
          </a:prstGeom>
        </p:spPr>
      </p:pic>
      <p:sp>
        <p:nvSpPr>
          <p:cNvPr id="14" name="Database text"/>
          <p:cNvSpPr txBox="1"/>
          <p:nvPr/>
        </p:nvSpPr>
        <p:spPr>
          <a:xfrm>
            <a:off x="1508760" y="3849624"/>
            <a:ext cx="4526280" cy="777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100"/>
              </a:spcAft>
            </a:pPr>
            <a:r>
              <a:rPr sz="1600" b="1" i="0">
                <a:solidFill>
                  <a:srgbClr val="232D37"/>
                </a:solidFill>
                <a:latin typeface="Calibri"/>
              </a:rPr>
              <a:t>MySQL Database</a:t>
            </a:r>
          </a:p>
          <a:p>
            <a:r>
              <a:rPr sz="1400" b="0" i="0">
                <a:solidFill>
                  <a:srgbClr val="232D37"/>
                </a:solidFill>
                <a:latin typeface="Calibri"/>
              </a:rPr>
              <a:t>Designed and managed with MySQL Workbench</a:t>
            </a:r>
          </a:p>
        </p:txBody>
      </p:sp>
      <p:sp>
        <p:nvSpPr>
          <p:cNvPr id="15" name="Flow arrow"/>
          <p:cNvSpPr/>
          <p:nvPr/>
        </p:nvSpPr>
        <p:spPr>
          <a:xfrm>
            <a:off x="3227832" y="4663440"/>
            <a:ext cx="310896" cy="228600"/>
          </a:xfrm>
          <a:prstGeom prst="downArrow">
            <a:avLst/>
          </a:prstGeom>
          <a:solidFill>
            <a:srgbClr val="E878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ables box"/>
          <p:cNvSpPr/>
          <p:nvPr/>
        </p:nvSpPr>
        <p:spPr>
          <a:xfrm>
            <a:off x="548640" y="4928616"/>
            <a:ext cx="5669280" cy="13716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D5DB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able chip Customer"/>
          <p:cNvSpPr/>
          <p:nvPr/>
        </p:nvSpPr>
        <p:spPr>
          <a:xfrm>
            <a:off x="749808" y="5065776"/>
            <a:ext cx="120700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8C0CA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232D37"/>
                </a:solidFill>
                <a:latin typeface="Calibri"/>
              </a:rPr>
              <a:t>Customer</a:t>
            </a:r>
          </a:p>
        </p:txBody>
      </p:sp>
      <p:sp>
        <p:nvSpPr>
          <p:cNvPr id="18" name="Table chip Vehicle"/>
          <p:cNvSpPr/>
          <p:nvPr/>
        </p:nvSpPr>
        <p:spPr>
          <a:xfrm>
            <a:off x="2048256" y="5065776"/>
            <a:ext cx="120700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8C0CA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232D37"/>
                </a:solidFill>
                <a:latin typeface="Calibri"/>
              </a:rPr>
              <a:t>Vehicle</a:t>
            </a:r>
          </a:p>
        </p:txBody>
      </p:sp>
      <p:sp>
        <p:nvSpPr>
          <p:cNvPr id="19" name="Table chip Service"/>
          <p:cNvSpPr/>
          <p:nvPr/>
        </p:nvSpPr>
        <p:spPr>
          <a:xfrm>
            <a:off x="3346704" y="5065776"/>
            <a:ext cx="120700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8C0CA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232D37"/>
                </a:solidFill>
                <a:latin typeface="Calibri"/>
              </a:rPr>
              <a:t>Service</a:t>
            </a:r>
          </a:p>
        </p:txBody>
      </p:sp>
      <p:sp>
        <p:nvSpPr>
          <p:cNvPr id="20" name="Table chip Mechanic"/>
          <p:cNvSpPr/>
          <p:nvPr/>
        </p:nvSpPr>
        <p:spPr>
          <a:xfrm>
            <a:off x="4645152" y="5065776"/>
            <a:ext cx="120700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8C0CA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232D37"/>
                </a:solidFill>
                <a:latin typeface="Calibri"/>
              </a:rPr>
              <a:t>Mechanic</a:t>
            </a:r>
          </a:p>
        </p:txBody>
      </p:sp>
      <p:sp>
        <p:nvSpPr>
          <p:cNvPr id="21" name="Table chip Department"/>
          <p:cNvSpPr/>
          <p:nvPr/>
        </p:nvSpPr>
        <p:spPr>
          <a:xfrm>
            <a:off x="749808" y="5504688"/>
            <a:ext cx="120700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8C0CA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232D37"/>
                </a:solidFill>
                <a:latin typeface="Calibri"/>
              </a:rPr>
              <a:t>Department</a:t>
            </a:r>
          </a:p>
        </p:txBody>
      </p:sp>
      <p:sp>
        <p:nvSpPr>
          <p:cNvPr id="22" name="Table chip Bay"/>
          <p:cNvSpPr/>
          <p:nvPr/>
        </p:nvSpPr>
        <p:spPr>
          <a:xfrm>
            <a:off x="2048256" y="5504688"/>
            <a:ext cx="120700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8C0CA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232D37"/>
                </a:solidFill>
                <a:latin typeface="Calibri"/>
              </a:rPr>
              <a:t>Bay</a:t>
            </a:r>
          </a:p>
        </p:txBody>
      </p:sp>
      <p:sp>
        <p:nvSpPr>
          <p:cNvPr id="23" name="Table chip Bill"/>
          <p:cNvSpPr/>
          <p:nvPr/>
        </p:nvSpPr>
        <p:spPr>
          <a:xfrm>
            <a:off x="3346704" y="5504688"/>
            <a:ext cx="1207008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8C0CA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232D37"/>
                </a:solidFill>
                <a:latin typeface="Calibri"/>
              </a:rPr>
              <a:t>Bill</a:t>
            </a:r>
          </a:p>
        </p:txBody>
      </p:sp>
      <p:sp>
        <p:nvSpPr>
          <p:cNvPr id="24" name="Tables note"/>
          <p:cNvSpPr txBox="1"/>
          <p:nvPr/>
        </p:nvSpPr>
        <p:spPr>
          <a:xfrm>
            <a:off x="749808" y="5925312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200" b="0" i="1">
                <a:solidFill>
                  <a:srgbClr val="5A6672"/>
                </a:solidFill>
                <a:latin typeface="Calibri"/>
              </a:rPr>
              <a:t>+ Customer_Phone, Mechanic_Specialization (multivalued attributes)</a:t>
            </a:r>
          </a:p>
        </p:txBody>
      </p:sp>
      <p:sp>
        <p:nvSpPr>
          <p:cNvPr id="25" name="Modules heading"/>
          <p:cNvSpPr txBox="1"/>
          <p:nvPr/>
        </p:nvSpPr>
        <p:spPr>
          <a:xfrm>
            <a:off x="6629400" y="1353312"/>
            <a:ext cx="501091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2000" b="1" i="0">
                <a:solidFill>
                  <a:srgbClr val="232D37"/>
                </a:solidFill>
                <a:latin typeface="Calibri"/>
              </a:rPr>
              <a:t>Core Modules</a:t>
            </a:r>
          </a:p>
        </p:txBody>
      </p:sp>
      <p:sp>
        <p:nvSpPr>
          <p:cNvPr id="26" name="Module card Customer &amp; Vehicle"/>
          <p:cNvSpPr/>
          <p:nvPr/>
        </p:nvSpPr>
        <p:spPr>
          <a:xfrm>
            <a:off x="6629400" y="1874519"/>
            <a:ext cx="5010912" cy="786384"/>
          </a:xfrm>
          <a:prstGeom prst="roundRect">
            <a:avLst>
              <a:gd name="adj" fmla="val 13953"/>
            </a:avLst>
          </a:prstGeom>
          <a:solidFill>
            <a:srgbClr val="F3F5F8"/>
          </a:solidFill>
          <a:ln w="9525">
            <a:solidFill>
              <a:srgbClr val="D5DB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Icon circle FaUsers"/>
          <p:cNvSpPr/>
          <p:nvPr/>
        </p:nvSpPr>
        <p:spPr>
          <a:xfrm>
            <a:off x="6858000" y="2039112"/>
            <a:ext cx="457200" cy="457200"/>
          </a:xfrm>
          <a:prstGeom prst="ellipse">
            <a:avLst/>
          </a:prstGeom>
          <a:solidFill>
            <a:srgbClr val="E878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Icon FaUse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2148840"/>
            <a:ext cx="237744" cy="237744"/>
          </a:xfrm>
          <a:prstGeom prst="rect">
            <a:avLst/>
          </a:prstGeom>
        </p:spPr>
      </p:pic>
      <p:sp>
        <p:nvSpPr>
          <p:cNvPr id="29" name="Module text Customer &amp; Vehicle"/>
          <p:cNvSpPr txBox="1"/>
          <p:nvPr/>
        </p:nvSpPr>
        <p:spPr>
          <a:xfrm>
            <a:off x="7498079" y="1874519"/>
            <a:ext cx="4005072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100"/>
              </a:spcAft>
            </a:pPr>
            <a:r>
              <a:rPr sz="1500" b="1" i="0">
                <a:solidFill>
                  <a:srgbClr val="232D37"/>
                </a:solidFill>
                <a:latin typeface="Calibri"/>
              </a:rPr>
              <a:t>Customer &amp; Vehicle</a:t>
            </a:r>
          </a:p>
          <a:p>
            <a:r>
              <a:rPr sz="1400" b="0" i="0">
                <a:solidFill>
                  <a:srgbClr val="232D37"/>
                </a:solidFill>
                <a:latin typeface="Calibri"/>
              </a:rPr>
              <a:t>Customer details and registered vehicles</a:t>
            </a:r>
          </a:p>
        </p:txBody>
      </p:sp>
      <p:sp>
        <p:nvSpPr>
          <p:cNvPr id="30" name="Module card Service Booking"/>
          <p:cNvSpPr/>
          <p:nvPr/>
        </p:nvSpPr>
        <p:spPr>
          <a:xfrm>
            <a:off x="6629400" y="2770632"/>
            <a:ext cx="5010912" cy="786384"/>
          </a:xfrm>
          <a:prstGeom prst="roundRect">
            <a:avLst>
              <a:gd name="adj" fmla="val 13953"/>
            </a:avLst>
          </a:prstGeom>
          <a:solidFill>
            <a:srgbClr val="F3F5F8"/>
          </a:solidFill>
          <a:ln w="9525">
            <a:solidFill>
              <a:srgbClr val="D5DB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Icon circle FaCalendarCheck"/>
          <p:cNvSpPr/>
          <p:nvPr/>
        </p:nvSpPr>
        <p:spPr>
          <a:xfrm>
            <a:off x="6858000" y="2935224"/>
            <a:ext cx="457200" cy="457200"/>
          </a:xfrm>
          <a:prstGeom prst="ellipse">
            <a:avLst/>
          </a:prstGeom>
          <a:solidFill>
            <a:srgbClr val="232D3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Icon FaCalendarChe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3044952"/>
            <a:ext cx="237744" cy="237744"/>
          </a:xfrm>
          <a:prstGeom prst="rect">
            <a:avLst/>
          </a:prstGeom>
        </p:spPr>
      </p:pic>
      <p:sp>
        <p:nvSpPr>
          <p:cNvPr id="33" name="Module text Service Booking"/>
          <p:cNvSpPr txBox="1"/>
          <p:nvPr/>
        </p:nvSpPr>
        <p:spPr>
          <a:xfrm>
            <a:off x="7498079" y="2770632"/>
            <a:ext cx="4005072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100"/>
              </a:spcAft>
            </a:pPr>
            <a:r>
              <a:rPr sz="1500" b="1" i="0">
                <a:solidFill>
                  <a:srgbClr val="232D37"/>
                </a:solidFill>
                <a:latin typeface="Calibri"/>
              </a:rPr>
              <a:t>Service Booking</a:t>
            </a:r>
          </a:p>
          <a:p>
            <a:r>
              <a:rPr sz="1400" b="0" i="0">
                <a:solidFill>
                  <a:srgbClr val="232D37"/>
                </a:solidFill>
                <a:latin typeface="Calibri"/>
              </a:rPr>
              <a:t>Service requests with service dates</a:t>
            </a:r>
          </a:p>
        </p:txBody>
      </p:sp>
      <p:sp>
        <p:nvSpPr>
          <p:cNvPr id="34" name="Module card Mechanic &amp; Department"/>
          <p:cNvSpPr/>
          <p:nvPr/>
        </p:nvSpPr>
        <p:spPr>
          <a:xfrm>
            <a:off x="6629400" y="3666744"/>
            <a:ext cx="5010912" cy="786384"/>
          </a:xfrm>
          <a:prstGeom prst="roundRect">
            <a:avLst>
              <a:gd name="adj" fmla="val 13953"/>
            </a:avLst>
          </a:prstGeom>
          <a:solidFill>
            <a:srgbClr val="F3F5F8"/>
          </a:solidFill>
          <a:ln w="9525">
            <a:solidFill>
              <a:srgbClr val="D5DB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Icon circle FaUserCog"/>
          <p:cNvSpPr/>
          <p:nvPr/>
        </p:nvSpPr>
        <p:spPr>
          <a:xfrm>
            <a:off x="6858000" y="3831335"/>
            <a:ext cx="457200" cy="457200"/>
          </a:xfrm>
          <a:prstGeom prst="ellipse">
            <a:avLst/>
          </a:prstGeom>
          <a:solidFill>
            <a:srgbClr val="E878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Icon FaUserC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728" y="3941063"/>
            <a:ext cx="237744" cy="237744"/>
          </a:xfrm>
          <a:prstGeom prst="rect">
            <a:avLst/>
          </a:prstGeom>
        </p:spPr>
      </p:pic>
      <p:sp>
        <p:nvSpPr>
          <p:cNvPr id="37" name="Module text Mechanic &amp; Department"/>
          <p:cNvSpPr txBox="1"/>
          <p:nvPr/>
        </p:nvSpPr>
        <p:spPr>
          <a:xfrm>
            <a:off x="7498079" y="3666744"/>
            <a:ext cx="4005072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100"/>
              </a:spcAft>
            </a:pPr>
            <a:r>
              <a:rPr sz="1500" b="1" i="0">
                <a:solidFill>
                  <a:srgbClr val="232D37"/>
                </a:solidFill>
                <a:latin typeface="Calibri"/>
              </a:rPr>
              <a:t>Mechanic &amp; Department</a:t>
            </a:r>
          </a:p>
          <a:p>
            <a:r>
              <a:rPr sz="1400" b="0" i="0">
                <a:solidFill>
                  <a:srgbClr val="232D37"/>
                </a:solidFill>
                <a:latin typeface="Calibri"/>
              </a:rPr>
              <a:t>Mechanic skills and department assignment</a:t>
            </a:r>
          </a:p>
        </p:txBody>
      </p:sp>
      <p:sp>
        <p:nvSpPr>
          <p:cNvPr id="38" name="Module card Bay Management"/>
          <p:cNvSpPr/>
          <p:nvPr/>
        </p:nvSpPr>
        <p:spPr>
          <a:xfrm>
            <a:off x="6629400" y="4562856"/>
            <a:ext cx="5010912" cy="786384"/>
          </a:xfrm>
          <a:prstGeom prst="roundRect">
            <a:avLst>
              <a:gd name="adj" fmla="val 13953"/>
            </a:avLst>
          </a:prstGeom>
          <a:solidFill>
            <a:srgbClr val="F3F5F8"/>
          </a:solidFill>
          <a:ln w="9525">
            <a:solidFill>
              <a:srgbClr val="D5DB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Icon circle FaWarehouse"/>
          <p:cNvSpPr/>
          <p:nvPr/>
        </p:nvSpPr>
        <p:spPr>
          <a:xfrm>
            <a:off x="6858000" y="4727448"/>
            <a:ext cx="457200" cy="457200"/>
          </a:xfrm>
          <a:prstGeom prst="ellipse">
            <a:avLst/>
          </a:prstGeom>
          <a:solidFill>
            <a:srgbClr val="232D3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Icon FaWarehou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7728" y="4837176"/>
            <a:ext cx="237744" cy="237744"/>
          </a:xfrm>
          <a:prstGeom prst="rect">
            <a:avLst/>
          </a:prstGeom>
        </p:spPr>
      </p:pic>
      <p:sp>
        <p:nvSpPr>
          <p:cNvPr id="41" name="Module text Bay Management"/>
          <p:cNvSpPr txBox="1"/>
          <p:nvPr/>
        </p:nvSpPr>
        <p:spPr>
          <a:xfrm>
            <a:off x="7498079" y="4562856"/>
            <a:ext cx="4005072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100"/>
              </a:spcAft>
            </a:pPr>
            <a:r>
              <a:rPr sz="1500" b="1" i="0">
                <a:solidFill>
                  <a:srgbClr val="232D37"/>
                </a:solidFill>
                <a:latin typeface="Calibri"/>
              </a:rPr>
              <a:t>Bay Management</a:t>
            </a:r>
          </a:p>
          <a:p>
            <a:r>
              <a:rPr sz="1400" b="0" i="0">
                <a:solidFill>
                  <a:srgbClr val="232D37"/>
                </a:solidFill>
                <a:latin typeface="Calibri"/>
              </a:rPr>
              <a:t>Bay type and occupied status</a:t>
            </a:r>
          </a:p>
        </p:txBody>
      </p:sp>
      <p:sp>
        <p:nvSpPr>
          <p:cNvPr id="42" name="Module card Billing"/>
          <p:cNvSpPr/>
          <p:nvPr/>
        </p:nvSpPr>
        <p:spPr>
          <a:xfrm>
            <a:off x="6629400" y="5458968"/>
            <a:ext cx="5010912" cy="786384"/>
          </a:xfrm>
          <a:prstGeom prst="roundRect">
            <a:avLst>
              <a:gd name="adj" fmla="val 13953"/>
            </a:avLst>
          </a:prstGeom>
          <a:solidFill>
            <a:srgbClr val="F3F5F8"/>
          </a:solidFill>
          <a:ln w="9525">
            <a:solidFill>
              <a:srgbClr val="D5DB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Icon circle FaFileInvoiceDollar"/>
          <p:cNvSpPr/>
          <p:nvPr/>
        </p:nvSpPr>
        <p:spPr>
          <a:xfrm>
            <a:off x="6858000" y="5623559"/>
            <a:ext cx="457200" cy="457200"/>
          </a:xfrm>
          <a:prstGeom prst="ellipse">
            <a:avLst/>
          </a:prstGeom>
          <a:solidFill>
            <a:srgbClr val="E878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Icon FaFileInvoiceDolla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7728" y="5733288"/>
            <a:ext cx="237744" cy="237744"/>
          </a:xfrm>
          <a:prstGeom prst="rect">
            <a:avLst/>
          </a:prstGeom>
        </p:spPr>
      </p:pic>
      <p:sp>
        <p:nvSpPr>
          <p:cNvPr id="45" name="Module text Billing"/>
          <p:cNvSpPr txBox="1"/>
          <p:nvPr/>
        </p:nvSpPr>
        <p:spPr>
          <a:xfrm>
            <a:off x="7498079" y="5458968"/>
            <a:ext cx="4005072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100"/>
              </a:spcAft>
            </a:pPr>
            <a:r>
              <a:rPr sz="1500" b="1" i="0">
                <a:solidFill>
                  <a:srgbClr val="232D37"/>
                </a:solidFill>
                <a:latin typeface="Calibri"/>
              </a:rPr>
              <a:t>Billing</a:t>
            </a:r>
          </a:p>
          <a:p>
            <a:r>
              <a:rPr sz="1400" b="0" i="0">
                <a:solidFill>
                  <a:srgbClr val="232D37"/>
                </a:solidFill>
                <a:latin typeface="Calibri"/>
              </a:rPr>
              <a:t>Bills and amounts for each customer</a:t>
            </a:r>
          </a:p>
        </p:txBody>
      </p:sp>
    </p:spTree>
    <p:extLst>
      <p:ext uri="{BB962C8B-B14F-4D97-AF65-F5344CB8AC3E}">
        <p14:creationId xmlns:p14="http://schemas.microsoft.com/office/powerpoint/2010/main" val="3327316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3B29D-9EA5-4042-BC61-D443DE878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&amp; ER Diagram </a:t>
            </a:r>
          </a:p>
        </p:txBody>
      </p:sp>
      <p:graphicFrame>
        <p:nvGraphicFramePr>
          <p:cNvPr id="3" name="Database structure table"/>
          <p:cNvGraphicFramePr>
            <a:graphicFrameLocks noGrp="1"/>
          </p:cNvGraphicFramePr>
          <p:nvPr/>
        </p:nvGraphicFramePr>
        <p:xfrm>
          <a:off x="548640" y="1371600"/>
          <a:ext cx="4709160" cy="292608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R="73152" marT="27432" marB="27432" anchor="ctr">
                    <a:lnL w="9525" cap="flat" cmpd="sng" algn="ctr">
                      <a:solidFill>
                        <a:srgbClr val="D5DBE3"/>
                      </a:solidFill>
                      <a:prstDash val="soli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23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R="73152" marT="27432" marB="27432" anchor="ctr">
                    <a:lnL w="9525" cap="flat" cmpd="sng" algn="ctr">
                      <a:solidFill>
                        <a:srgbClr val="D5DBE3"/>
                      </a:solidFill>
                      <a:prstDash val="soli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232D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32D37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R="73152" marT="27432" marB="27432" anchor="ctr">
                    <a:lnL w="9525" cap="flat" cmpd="sng" algn="ctr">
                      <a:solidFill>
                        <a:srgbClr val="D5DBE3"/>
                      </a:solidFill>
                      <a:prstDash val="soli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2D37"/>
                          </a:solidFill>
                          <a:latin typeface="Calibri"/>
                        </a:rPr>
                        <a:t>Customer details and phone numbers</a:t>
                      </a:r>
                    </a:p>
                  </a:txBody>
                  <a:tcPr marR="73152" marT="27432" marB="27432" anchor="ctr">
                    <a:lnL w="9525" cap="flat" cmpd="sng" algn="ctr">
                      <a:solidFill>
                        <a:srgbClr val="D5DBE3"/>
                      </a:solidFill>
                      <a:prstDash val="soli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32D37"/>
                          </a:solidFill>
                          <a:latin typeface="Calibri"/>
                        </a:rPr>
                        <a:t>Vehicle</a:t>
                      </a:r>
                    </a:p>
                  </a:txBody>
                  <a:tcPr marR="73152" marT="27432" marB="27432" anchor="ctr">
                    <a:lnL w="9525" cap="flat" cmpd="sng" algn="ctr">
                      <a:solidFill>
                        <a:srgbClr val="D5DBE3"/>
                      </a:solidFill>
                      <a:prstDash val="soli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2D37"/>
                          </a:solidFill>
                          <a:latin typeface="Calibri"/>
                        </a:rPr>
                        <a:t>Vehicles owned by customers</a:t>
                      </a:r>
                    </a:p>
                  </a:txBody>
                  <a:tcPr marR="73152" marT="27432" marB="27432" anchor="ctr">
                    <a:lnL w="9525" cap="flat" cmpd="sng" algn="ctr">
                      <a:solidFill>
                        <a:srgbClr val="D5DBE3"/>
                      </a:solidFill>
                      <a:prstDash val="soli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32D37"/>
                          </a:solidFill>
                          <a:latin typeface="Calibri"/>
                        </a:rPr>
                        <a:t>Service</a:t>
                      </a:r>
                    </a:p>
                  </a:txBody>
                  <a:tcPr marR="73152" marT="27432" marB="27432" anchor="ctr">
                    <a:lnL w="9525" cap="flat" cmpd="sng" algn="ctr">
                      <a:solidFill>
                        <a:srgbClr val="D5DBE3"/>
                      </a:solidFill>
                      <a:prstDash val="soli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2D37"/>
                          </a:solidFill>
                          <a:latin typeface="Calibri"/>
                        </a:rPr>
                        <a:t>Service bookings and dates</a:t>
                      </a:r>
                    </a:p>
                  </a:txBody>
                  <a:tcPr marR="73152" marT="27432" marB="27432" anchor="ctr">
                    <a:lnL w="9525" cap="flat" cmpd="sng" algn="ctr">
                      <a:solidFill>
                        <a:srgbClr val="D5DBE3"/>
                      </a:solidFill>
                      <a:prstDash val="soli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32D37"/>
                          </a:solidFill>
                          <a:latin typeface="Calibri"/>
                        </a:rPr>
                        <a:t>Mechanic</a:t>
                      </a:r>
                    </a:p>
                  </a:txBody>
                  <a:tcPr marR="73152" marT="27432" marB="27432" anchor="ctr">
                    <a:lnL w="9525" cap="flat" cmpd="sng" algn="ctr">
                      <a:solidFill>
                        <a:srgbClr val="D5DBE3"/>
                      </a:solidFill>
                      <a:prstDash val="soli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2D37"/>
                          </a:solidFill>
                          <a:latin typeface="Calibri"/>
                        </a:rPr>
                        <a:t>Mechanic details and specializations</a:t>
                      </a:r>
                    </a:p>
                  </a:txBody>
                  <a:tcPr marR="73152" marT="27432" marB="27432" anchor="ctr">
                    <a:lnL w="9525" cap="flat" cmpd="sng" algn="ctr">
                      <a:solidFill>
                        <a:srgbClr val="D5DBE3"/>
                      </a:solidFill>
                      <a:prstDash val="soli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32D37"/>
                          </a:solidFill>
                          <a:latin typeface="Calibri"/>
                        </a:rPr>
                        <a:t>Department</a:t>
                      </a:r>
                    </a:p>
                  </a:txBody>
                  <a:tcPr marR="73152" marT="27432" marB="27432" anchor="ctr">
                    <a:lnL w="9525" cap="flat" cmpd="sng" algn="ctr">
                      <a:solidFill>
                        <a:srgbClr val="D5DBE3"/>
                      </a:solidFill>
                      <a:prstDash val="soli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2D37"/>
                          </a:solidFill>
                          <a:latin typeface="Calibri"/>
                        </a:rPr>
                        <a:t>Workshop departments</a:t>
                      </a:r>
                    </a:p>
                  </a:txBody>
                  <a:tcPr marR="73152" marT="27432" marB="27432" anchor="ctr">
                    <a:lnL w="9525" cap="flat" cmpd="sng" algn="ctr">
                      <a:solidFill>
                        <a:srgbClr val="D5DBE3"/>
                      </a:solidFill>
                      <a:prstDash val="soli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32D37"/>
                          </a:solidFill>
                          <a:latin typeface="Calibri"/>
                        </a:rPr>
                        <a:t>Bay</a:t>
                      </a:r>
                    </a:p>
                  </a:txBody>
                  <a:tcPr marR="73152" marT="27432" marB="27432" anchor="ctr">
                    <a:lnL w="9525" cap="flat" cmpd="sng" algn="ctr">
                      <a:solidFill>
                        <a:srgbClr val="D5DBE3"/>
                      </a:solidFill>
                      <a:prstDash val="soli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2D37"/>
                          </a:solidFill>
                          <a:latin typeface="Calibri"/>
                        </a:rPr>
                        <a:t>Service bays: type and occupied status</a:t>
                      </a:r>
                    </a:p>
                  </a:txBody>
                  <a:tcPr marR="73152" marT="27432" marB="27432" anchor="ctr">
                    <a:lnL w="9525" cap="flat" cmpd="sng" algn="ctr">
                      <a:solidFill>
                        <a:srgbClr val="D5DBE3"/>
                      </a:solidFill>
                      <a:prstDash val="soli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32D37"/>
                          </a:solidFill>
                          <a:latin typeface="Calibri"/>
                        </a:rPr>
                        <a:t>Bill</a:t>
                      </a:r>
                    </a:p>
                  </a:txBody>
                  <a:tcPr marR="73152" marT="27432" marB="27432" anchor="ctr">
                    <a:lnL w="9525" cap="flat" cmpd="sng" algn="ctr">
                      <a:solidFill>
                        <a:srgbClr val="D5DBE3"/>
                      </a:solidFill>
                      <a:prstDash val="soli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2D37"/>
                          </a:solidFill>
                          <a:latin typeface="Calibri"/>
                        </a:rPr>
                        <a:t>Bills and amounts for customers</a:t>
                      </a:r>
                    </a:p>
                  </a:txBody>
                  <a:tcPr marR="73152" marT="27432" marB="27432" anchor="ctr">
                    <a:lnL w="9525" cap="flat" cmpd="sng" algn="ctr">
                      <a:solidFill>
                        <a:srgbClr val="D5DBE3"/>
                      </a:solidFill>
                      <a:prstDash val="soli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able note"/>
          <p:cNvSpPr txBox="1"/>
          <p:nvPr/>
        </p:nvSpPr>
        <p:spPr>
          <a:xfrm>
            <a:off x="548640" y="438912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200" b="0" i="1">
                <a:solidFill>
                  <a:srgbClr val="5A6672"/>
                </a:solidFill>
                <a:latin typeface="Calibri"/>
              </a:rPr>
              <a:t>Multivalued attributes (phone, specialization) are kept in their own tables: Customer_Phone and Mechanic_Specialization.</a:t>
            </a:r>
          </a:p>
        </p:txBody>
      </p:sp>
      <p:sp>
        <p:nvSpPr>
          <p:cNvPr id="5" name="Relationships heading"/>
          <p:cNvSpPr txBox="1"/>
          <p:nvPr/>
        </p:nvSpPr>
        <p:spPr>
          <a:xfrm>
            <a:off x="548640" y="4983480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600" b="1" i="0">
                <a:solidFill>
                  <a:srgbClr val="232D37"/>
                </a:solidFill>
                <a:latin typeface="Calibri"/>
              </a:rPr>
              <a:t>Key Relationships</a:t>
            </a:r>
          </a:p>
        </p:txBody>
      </p:sp>
      <p:sp>
        <p:nvSpPr>
          <p:cNvPr id="6" name="Relationships"/>
          <p:cNvSpPr txBox="1"/>
          <p:nvPr/>
        </p:nvSpPr>
        <p:spPr>
          <a:xfrm>
            <a:off x="548640" y="5330952"/>
            <a:ext cx="470916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500"/>
              </a:spcAft>
            </a:pPr>
            <a:r>
              <a:rPr sz="1300" b="1" i="0">
                <a:solidFill>
                  <a:srgbClr val="232D37"/>
                </a:solidFill>
                <a:latin typeface="Calibri"/>
              </a:rPr>
              <a:t>Customer </a:t>
            </a:r>
            <a:r>
              <a:rPr sz="1300" b="1" i="0">
                <a:solidFill>
                  <a:srgbClr val="E8782A"/>
                </a:solidFill>
                <a:latin typeface="Calibri"/>
              </a:rPr>
              <a:t>→ HAS → </a:t>
            </a:r>
            <a:r>
              <a:rPr sz="1300" b="1" i="0">
                <a:solidFill>
                  <a:srgbClr val="232D37"/>
                </a:solidFill>
                <a:latin typeface="Calibri"/>
              </a:rPr>
              <a:t>Vehicle</a:t>
            </a:r>
            <a:r>
              <a:rPr sz="1300" b="1" i="0">
                <a:solidFill>
                  <a:srgbClr val="E8782A"/>
                </a:solidFill>
                <a:latin typeface="Calibri"/>
              </a:rPr>
              <a:t> → ASSIGNED TO → </a:t>
            </a:r>
            <a:r>
              <a:rPr sz="1300" b="1" i="0">
                <a:solidFill>
                  <a:srgbClr val="232D37"/>
                </a:solidFill>
                <a:latin typeface="Calibri"/>
              </a:rPr>
              <a:t>Bay</a:t>
            </a:r>
          </a:p>
          <a:p>
            <a:pPr>
              <a:spcAft>
                <a:spcPts val="500"/>
              </a:spcAft>
            </a:pPr>
            <a:r>
              <a:rPr sz="1300" b="1" i="0">
                <a:solidFill>
                  <a:srgbClr val="232D37"/>
                </a:solidFill>
                <a:latin typeface="Calibri"/>
              </a:rPr>
              <a:t>Customer </a:t>
            </a:r>
            <a:r>
              <a:rPr sz="1300" b="1" i="0">
                <a:solidFill>
                  <a:srgbClr val="E8782A"/>
                </a:solidFill>
                <a:latin typeface="Calibri"/>
              </a:rPr>
              <a:t>→ BOOKS → </a:t>
            </a:r>
            <a:r>
              <a:rPr sz="1300" b="1" i="0">
                <a:solidFill>
                  <a:srgbClr val="232D37"/>
                </a:solidFill>
                <a:latin typeface="Calibri"/>
              </a:rPr>
              <a:t>Service</a:t>
            </a:r>
            <a:r>
              <a:rPr sz="1300" b="1" i="0">
                <a:solidFill>
                  <a:srgbClr val="E8782A"/>
                </a:solidFill>
                <a:latin typeface="Calibri"/>
              </a:rPr>
              <a:t> → ATTENDS → </a:t>
            </a:r>
            <a:r>
              <a:rPr sz="1300" b="1" i="0">
                <a:solidFill>
                  <a:srgbClr val="232D37"/>
                </a:solidFill>
                <a:latin typeface="Calibri"/>
              </a:rPr>
              <a:t>Mechanic</a:t>
            </a:r>
          </a:p>
          <a:p>
            <a:pPr>
              <a:spcAft>
                <a:spcPts val="500"/>
              </a:spcAft>
            </a:pPr>
            <a:r>
              <a:rPr sz="1300" b="1" i="0">
                <a:solidFill>
                  <a:srgbClr val="232D37"/>
                </a:solidFill>
                <a:latin typeface="Calibri"/>
              </a:rPr>
              <a:t>Mechanic </a:t>
            </a:r>
            <a:r>
              <a:rPr sz="1300" b="1" i="0">
                <a:solidFill>
                  <a:srgbClr val="E8782A"/>
                </a:solidFill>
                <a:latin typeface="Calibri"/>
              </a:rPr>
              <a:t>→ BELONGS TO → </a:t>
            </a:r>
            <a:r>
              <a:rPr sz="1300" b="1" i="0">
                <a:solidFill>
                  <a:srgbClr val="232D37"/>
                </a:solidFill>
                <a:latin typeface="Calibri"/>
              </a:rPr>
              <a:t>Department</a:t>
            </a:r>
          </a:p>
          <a:p>
            <a:r>
              <a:rPr sz="1300" b="1" i="0">
                <a:solidFill>
                  <a:srgbClr val="232D37"/>
                </a:solidFill>
                <a:latin typeface="Calibri"/>
              </a:rPr>
              <a:t>Customer </a:t>
            </a:r>
            <a:r>
              <a:rPr sz="1300" b="1" i="0">
                <a:solidFill>
                  <a:srgbClr val="E8782A"/>
                </a:solidFill>
                <a:latin typeface="Calibri"/>
              </a:rPr>
              <a:t>→ RECEIVES → </a:t>
            </a:r>
            <a:r>
              <a:rPr sz="1300" b="1" i="0">
                <a:solidFill>
                  <a:srgbClr val="232D37"/>
                </a:solidFill>
                <a:latin typeface="Calibri"/>
              </a:rPr>
              <a:t>Bill</a:t>
            </a:r>
          </a:p>
        </p:txBody>
      </p:sp>
      <p:pic>
        <p:nvPicPr>
          <p:cNvPr id="7" name="ER diagram" descr="Entity-relationship diagram of the Vehicle Service and Maintenance Management System. Customer HAS Vehicle, BOOKS Service and RECEIVES Bill; Service ATTENDS Mechanic; Mechanic BELONGS TO Department; Vehicle is ASSIGNED TO Bay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32" y="1389888"/>
            <a:ext cx="6126480" cy="4957501"/>
          </a:xfrm>
          <a:prstGeom prst="rect">
            <a:avLst/>
          </a:prstGeom>
          <a:ln w="9525">
            <a:solidFill>
              <a:srgbClr val="D5DBE3"/>
            </a:solidFill>
          </a:ln>
        </p:spPr>
      </p:pic>
    </p:spTree>
    <p:extLst>
      <p:ext uri="{BB962C8B-B14F-4D97-AF65-F5344CB8AC3E}">
        <p14:creationId xmlns:p14="http://schemas.microsoft.com/office/powerpoint/2010/main" val="4114808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541C1-0906-95C4-F18B-D1D2E80B8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Implementation &amp; Results </a:t>
            </a:r>
            <a:endParaRPr lang="en-US" sz="3600" b="1" dirty="0"/>
          </a:p>
        </p:txBody>
      </p:sp>
      <p:sp>
        <p:nvSpPr>
          <p:cNvPr id="3" name="Operations heading"/>
          <p:cNvSpPr txBox="1"/>
          <p:nvPr/>
        </p:nvSpPr>
        <p:spPr>
          <a:xfrm>
            <a:off x="548640" y="1353312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800" b="1" i="0">
                <a:solidFill>
                  <a:srgbClr val="232D37"/>
                </a:solidFill>
                <a:latin typeface="Calibri"/>
              </a:rPr>
              <a:t>SQL Operations</a:t>
            </a:r>
          </a:p>
        </p:txBody>
      </p:sp>
      <p:sp>
        <p:nvSpPr>
          <p:cNvPr id="4" name="SQL operations"/>
          <p:cNvSpPr txBox="1"/>
          <p:nvPr/>
        </p:nvSpPr>
        <p:spPr>
          <a:xfrm>
            <a:off x="548640" y="1783080"/>
            <a:ext cx="5669280" cy="1920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E8782A"/>
                </a:solidFill>
                <a:latin typeface="Calibri"/>
              </a:rPr>
              <a:t>CREATE</a:t>
            </a:r>
            <a:r>
              <a:rPr sz="1400" b="0" i="0">
                <a:solidFill>
                  <a:srgbClr val="232D37"/>
                </a:solidFill>
                <a:latin typeface="Calibri"/>
              </a:rPr>
              <a:t>  →  Database and 9 tables with PK / FK constraints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E8782A"/>
                </a:solidFill>
                <a:latin typeface="Calibri"/>
              </a:rPr>
              <a:t>INSERT</a:t>
            </a:r>
            <a:r>
              <a:rPr sz="1400" b="0" i="0">
                <a:solidFill>
                  <a:srgbClr val="232D37"/>
                </a:solidFill>
                <a:latin typeface="Calibri"/>
              </a:rPr>
              <a:t>  →  Sample customers, vehicles, services and bills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E8782A"/>
                </a:solidFill>
                <a:latin typeface="Calibri"/>
              </a:rPr>
              <a:t>SELECT / WHERE</a:t>
            </a:r>
            <a:r>
              <a:rPr sz="1400" b="0" i="0">
                <a:solidFill>
                  <a:srgbClr val="232D37"/>
                </a:solidFill>
                <a:latin typeface="Calibri"/>
              </a:rPr>
              <a:t>  →  Retrieve and filter records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E8782A"/>
                </a:solidFill>
                <a:latin typeface="Calibri"/>
              </a:rPr>
              <a:t>JOIN</a:t>
            </a:r>
            <a:r>
              <a:rPr sz="1400" b="0" i="0">
                <a:solidFill>
                  <a:srgbClr val="232D37"/>
                </a:solidFill>
                <a:latin typeface="Calibri"/>
              </a:rPr>
              <a:t>  →  Combine related tables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E8782A"/>
                </a:solidFill>
                <a:latin typeface="Calibri"/>
              </a:rPr>
              <a:t>GROUP BY</a:t>
            </a:r>
            <a:r>
              <a:rPr sz="1400" b="0" i="0">
                <a:solidFill>
                  <a:srgbClr val="232D37"/>
                </a:solidFill>
                <a:latin typeface="Calibri"/>
              </a:rPr>
              <a:t>  →  Total billed amount per customer</a:t>
            </a:r>
          </a:p>
          <a:p>
            <a:r>
              <a:rPr sz="1400" b="1" i="0">
                <a:solidFill>
                  <a:srgbClr val="E8782A"/>
                </a:solidFill>
                <a:latin typeface="Calibri"/>
              </a:rPr>
              <a:t>UPDATE</a:t>
            </a:r>
            <a:r>
              <a:rPr sz="1400" b="0" i="0">
                <a:solidFill>
                  <a:srgbClr val="232D37"/>
                </a:solidFill>
                <a:latin typeface="Calibri"/>
              </a:rPr>
              <a:t>  →  Change a bay’s occupied status</a:t>
            </a:r>
          </a:p>
        </p:txBody>
      </p:sp>
      <p:sp>
        <p:nvSpPr>
          <p:cNvPr id="5" name="Sample SQL heading"/>
          <p:cNvSpPr txBox="1"/>
          <p:nvPr/>
        </p:nvSpPr>
        <p:spPr>
          <a:xfrm>
            <a:off x="548640" y="361188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800" b="1" i="0">
                <a:solidFill>
                  <a:srgbClr val="232D37"/>
                </a:solidFill>
                <a:latin typeface="Calibri"/>
              </a:rPr>
              <a:t>Sample SQL</a:t>
            </a:r>
          </a:p>
        </p:txBody>
      </p:sp>
      <p:sp>
        <p:nvSpPr>
          <p:cNvPr id="6" name="Code panel"/>
          <p:cNvSpPr/>
          <p:nvPr/>
        </p:nvSpPr>
        <p:spPr>
          <a:xfrm>
            <a:off x="548640" y="4023360"/>
            <a:ext cx="5669280" cy="2423159"/>
          </a:xfrm>
          <a:prstGeom prst="roundRect">
            <a:avLst>
              <a:gd name="adj" fmla="val 3773"/>
            </a:avLst>
          </a:prstGeom>
          <a:solidFill>
            <a:srgbClr val="232D3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ode text"/>
          <p:cNvSpPr txBox="1"/>
          <p:nvPr/>
        </p:nvSpPr>
        <p:spPr>
          <a:xfrm>
            <a:off x="731520" y="4114800"/>
            <a:ext cx="5303520" cy="224027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2F4F7"/>
                </a:solidFill>
                <a:latin typeface="Courier New"/>
              </a:rPr>
              <a:t>CREATE TABLE vehicle 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2F4F7"/>
                </a:solidFill>
                <a:latin typeface="Courier New"/>
              </a:rPr>
              <a:t>  vehicle_id INT AUTO_INCREMENT PRIMARY KEY,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2F4F7"/>
                </a:solidFill>
                <a:latin typeface="Courier New"/>
              </a:rPr>
              <a:t>  reg_date   DATE NOT NULL,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2F4F7"/>
                </a:solidFill>
                <a:latin typeface="Courier New"/>
              </a:rPr>
              <a:t>  cust_id    INT NOT NULL,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2F4F7"/>
                </a:solidFill>
                <a:latin typeface="Courier New"/>
              </a:rPr>
              <a:t>  bay_id     INT NULL,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2F4F7"/>
                </a:solidFill>
                <a:latin typeface="Courier New"/>
              </a:rPr>
              <a:t>  FOREIGN KEY (cust_id) REFERENCES customer(cust_id),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2F4F7"/>
                </a:solidFill>
                <a:latin typeface="Courier New"/>
              </a:rPr>
              <a:t>  FOREIGN KEY (bay_id)  REFERENCES bay(bay_id)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2F4F7"/>
                </a:solidFill>
                <a:latin typeface="Courier New"/>
              </a:rPr>
              <a:t>);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2F4F7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2F4F7"/>
                </a:solidFill>
                <a:latin typeface="Courier New"/>
              </a:rPr>
              <a:t>SELECT s.service_id, s.service_date, m.name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2F4F7"/>
                </a:solidFill>
                <a:latin typeface="Courier New"/>
              </a:rPr>
              <a:t>FROM service 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2F4F7"/>
                </a:solidFill>
                <a:latin typeface="Courier New"/>
              </a:rPr>
              <a:t>JOIN mechanic m ON s.mech_id = m.mech_id;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9BF6C8C-4095-9484-D920-D77F21FE91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405" y="1353312"/>
            <a:ext cx="4930567" cy="203471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CC62173-3D62-3344-F50A-6CFD321BAA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4729" y="3611880"/>
            <a:ext cx="3657917" cy="2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61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270972EF-6C9A-2696-9060-4862778349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37" y="332656"/>
            <a:ext cx="5933723" cy="29415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9C91368-60A3-4E40-A5BC-0B7462542A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23" y="116632"/>
            <a:ext cx="6063307" cy="29415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7770FFE-C103-03E7-611F-D974590D27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1" y="3284502"/>
            <a:ext cx="6110433" cy="283441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45B3494-AC5A-99EC-62B8-ECFC652B2F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37" y="3501008"/>
            <a:ext cx="5933723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37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5A555D-D5F3-159D-7B4C-328D7BC55A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7" y="4628231"/>
            <a:ext cx="6835732" cy="21943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EA25CE-6B46-B2E7-2BD7-C4696FDDD9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768" y="2427377"/>
            <a:ext cx="7776863" cy="20817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3241DF-9EF2-B41A-2554-64D99FD435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7" y="35403"/>
            <a:ext cx="6984776" cy="231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586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8D940-E456-4083-912A-0FEBF8D72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Book Antiqua" panose="02040602050305030304" pitchFamily="18" charset="0"/>
              </a:rPr>
              <a:t>Conclusion</a:t>
            </a:r>
          </a:p>
        </p:txBody>
      </p:sp>
      <p:sp>
        <p:nvSpPr>
          <p:cNvPr id="3" name="Conclusion card"/>
          <p:cNvSpPr/>
          <p:nvPr/>
        </p:nvSpPr>
        <p:spPr>
          <a:xfrm>
            <a:off x="548640" y="1371600"/>
            <a:ext cx="11091672" cy="1097280"/>
          </a:xfrm>
          <a:prstGeom prst="roundRect">
            <a:avLst>
              <a:gd name="adj" fmla="val 10000"/>
            </a:avLst>
          </a:prstGeom>
          <a:solidFill>
            <a:srgbClr val="FCEBD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Icon circle FaCheckCircle"/>
          <p:cNvSpPr/>
          <p:nvPr/>
        </p:nvSpPr>
        <p:spPr>
          <a:xfrm>
            <a:off x="813816" y="1591056"/>
            <a:ext cx="658368" cy="658368"/>
          </a:xfrm>
          <a:prstGeom prst="ellipse">
            <a:avLst/>
          </a:prstGeom>
          <a:solidFill>
            <a:srgbClr val="E878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Icon FaCheckCirc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746504"/>
            <a:ext cx="347472" cy="347472"/>
          </a:xfrm>
          <a:prstGeom prst="rect">
            <a:avLst/>
          </a:prstGeom>
        </p:spPr>
      </p:pic>
      <p:sp>
        <p:nvSpPr>
          <p:cNvPr id="6" name="Conclusion text"/>
          <p:cNvSpPr txBox="1"/>
          <p:nvPr/>
        </p:nvSpPr>
        <p:spPr>
          <a:xfrm>
            <a:off x="1737360" y="1371600"/>
            <a:ext cx="9628632" cy="10972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200"/>
              </a:spcAft>
            </a:pPr>
            <a:r>
              <a:rPr sz="1500" b="1" i="0">
                <a:solidFill>
                  <a:srgbClr val="E8782A"/>
                </a:solidFill>
                <a:latin typeface="Calibri"/>
              </a:rPr>
              <a:t>Conclusion</a:t>
            </a:r>
          </a:p>
          <a:p>
            <a:r>
              <a:rPr sz="1500" b="0" i="0">
                <a:solidFill>
                  <a:srgbClr val="232D37"/>
                </a:solidFill>
                <a:latin typeface="Calibri"/>
              </a:rPr>
              <a:t>The Vehicle Service and Maintenance Management System shows how a relational database can replace manual service-centre records with organised, connected and quickly searchable data.</a:t>
            </a:r>
          </a:p>
        </p:txBody>
      </p:sp>
      <p:sp>
        <p:nvSpPr>
          <p:cNvPr id="7" name="Outcomes card"/>
          <p:cNvSpPr/>
          <p:nvPr/>
        </p:nvSpPr>
        <p:spPr>
          <a:xfrm>
            <a:off x="548640" y="2697480"/>
            <a:ext cx="6126480" cy="3749039"/>
          </a:xfrm>
          <a:prstGeom prst="roundRect">
            <a:avLst>
              <a:gd name="adj" fmla="val 2926"/>
            </a:avLst>
          </a:prstGeom>
          <a:solidFill>
            <a:srgbClr val="F3F5F8"/>
          </a:solidFill>
          <a:ln w="9525">
            <a:solidFill>
              <a:srgbClr val="D5DB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uture scope card"/>
          <p:cNvSpPr/>
          <p:nvPr/>
        </p:nvSpPr>
        <p:spPr>
          <a:xfrm>
            <a:off x="6949440" y="2697480"/>
            <a:ext cx="4690872" cy="3749039"/>
          </a:xfrm>
          <a:prstGeom prst="roundRect">
            <a:avLst>
              <a:gd name="adj" fmla="val 2926"/>
            </a:avLst>
          </a:prstGeom>
          <a:solidFill>
            <a:srgbClr val="F3F5F8"/>
          </a:solidFill>
          <a:ln w="9525">
            <a:solidFill>
              <a:srgbClr val="D5DB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Icon circle FaChartLine"/>
          <p:cNvSpPr/>
          <p:nvPr/>
        </p:nvSpPr>
        <p:spPr>
          <a:xfrm>
            <a:off x="768096" y="2898648"/>
            <a:ext cx="512064" cy="512064"/>
          </a:xfrm>
          <a:prstGeom prst="ellipse">
            <a:avLst/>
          </a:prstGeom>
          <a:solidFill>
            <a:srgbClr val="E878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con FaChartL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017520"/>
            <a:ext cx="274320" cy="274320"/>
          </a:xfrm>
          <a:prstGeom prst="rect">
            <a:avLst/>
          </a:prstGeom>
        </p:spPr>
      </p:pic>
      <p:sp>
        <p:nvSpPr>
          <p:cNvPr id="11" name="Heading Key Outcomes"/>
          <p:cNvSpPr txBox="1"/>
          <p:nvPr/>
        </p:nvSpPr>
        <p:spPr>
          <a:xfrm>
            <a:off x="1417319" y="288036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800" b="1" i="0">
                <a:solidFill>
                  <a:srgbClr val="232D37"/>
                </a:solidFill>
                <a:latin typeface="Calibri"/>
              </a:rPr>
              <a:t>Key Outcomes</a:t>
            </a:r>
          </a:p>
        </p:txBody>
      </p:sp>
      <p:sp>
        <p:nvSpPr>
          <p:cNvPr id="12" name="Tick circle"/>
          <p:cNvSpPr/>
          <p:nvPr/>
        </p:nvSpPr>
        <p:spPr>
          <a:xfrm>
            <a:off x="941832" y="3602736"/>
            <a:ext cx="310896" cy="310896"/>
          </a:xfrm>
          <a:prstGeom prst="ellipse">
            <a:avLst/>
          </a:prstGeom>
          <a:solidFill>
            <a:srgbClr val="E878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Tic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666744"/>
            <a:ext cx="182880" cy="182880"/>
          </a:xfrm>
          <a:prstGeom prst="rect">
            <a:avLst/>
          </a:prstGeom>
        </p:spPr>
      </p:pic>
      <p:sp>
        <p:nvSpPr>
          <p:cNvPr id="14" name="Outcome 1"/>
          <p:cNvSpPr txBox="1"/>
          <p:nvPr/>
        </p:nvSpPr>
        <p:spPr>
          <a:xfrm>
            <a:off x="1463040" y="3529584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600" b="0" i="0">
                <a:solidFill>
                  <a:srgbClr val="232D37"/>
                </a:solidFill>
                <a:latin typeface="Calibri"/>
              </a:rPr>
              <a:t>Organised storage of all service-centre data</a:t>
            </a:r>
          </a:p>
        </p:txBody>
      </p:sp>
      <p:sp>
        <p:nvSpPr>
          <p:cNvPr id="15" name="Tick circle"/>
          <p:cNvSpPr/>
          <p:nvPr/>
        </p:nvSpPr>
        <p:spPr>
          <a:xfrm>
            <a:off x="941832" y="4151376"/>
            <a:ext cx="310896" cy="310896"/>
          </a:xfrm>
          <a:prstGeom prst="ellipse">
            <a:avLst/>
          </a:prstGeom>
          <a:solidFill>
            <a:srgbClr val="E878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Tic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215384"/>
            <a:ext cx="182880" cy="182880"/>
          </a:xfrm>
          <a:prstGeom prst="rect">
            <a:avLst/>
          </a:prstGeom>
        </p:spPr>
      </p:pic>
      <p:sp>
        <p:nvSpPr>
          <p:cNvPr id="17" name="Outcome 2"/>
          <p:cNvSpPr txBox="1"/>
          <p:nvPr/>
        </p:nvSpPr>
        <p:spPr>
          <a:xfrm>
            <a:off x="1463040" y="4078224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600" b="0" i="0">
                <a:solidFill>
                  <a:srgbClr val="232D37"/>
                </a:solidFill>
                <a:latin typeface="Calibri"/>
              </a:rPr>
              <a:t>Less manual effort and fewer billing errors</a:t>
            </a:r>
          </a:p>
        </p:txBody>
      </p:sp>
      <p:sp>
        <p:nvSpPr>
          <p:cNvPr id="18" name="Tick circle"/>
          <p:cNvSpPr/>
          <p:nvPr/>
        </p:nvSpPr>
        <p:spPr>
          <a:xfrm>
            <a:off x="941832" y="4700016"/>
            <a:ext cx="310896" cy="310896"/>
          </a:xfrm>
          <a:prstGeom prst="ellipse">
            <a:avLst/>
          </a:prstGeom>
          <a:solidFill>
            <a:srgbClr val="E878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Tic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764024"/>
            <a:ext cx="182880" cy="182880"/>
          </a:xfrm>
          <a:prstGeom prst="rect">
            <a:avLst/>
          </a:prstGeom>
        </p:spPr>
      </p:pic>
      <p:sp>
        <p:nvSpPr>
          <p:cNvPr id="20" name="Outcome 3"/>
          <p:cNvSpPr txBox="1"/>
          <p:nvPr/>
        </p:nvSpPr>
        <p:spPr>
          <a:xfrm>
            <a:off x="1463040" y="4626864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600" b="0" i="0">
                <a:solidFill>
                  <a:srgbClr val="232D37"/>
                </a:solidFill>
                <a:latin typeface="Calibri"/>
              </a:rPr>
              <a:t>Faster retrieval of service history using SQL</a:t>
            </a:r>
          </a:p>
        </p:txBody>
      </p:sp>
      <p:sp>
        <p:nvSpPr>
          <p:cNvPr id="21" name="Tick circle"/>
          <p:cNvSpPr/>
          <p:nvPr/>
        </p:nvSpPr>
        <p:spPr>
          <a:xfrm>
            <a:off x="941832" y="5248656"/>
            <a:ext cx="310896" cy="310896"/>
          </a:xfrm>
          <a:prstGeom prst="ellipse">
            <a:avLst/>
          </a:prstGeom>
          <a:solidFill>
            <a:srgbClr val="E878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Tic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312664"/>
            <a:ext cx="182880" cy="182880"/>
          </a:xfrm>
          <a:prstGeom prst="rect">
            <a:avLst/>
          </a:prstGeom>
        </p:spPr>
      </p:pic>
      <p:sp>
        <p:nvSpPr>
          <p:cNvPr id="23" name="Outcome 4"/>
          <p:cNvSpPr txBox="1"/>
          <p:nvPr/>
        </p:nvSpPr>
        <p:spPr>
          <a:xfrm>
            <a:off x="1463040" y="5175504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600" b="0" i="0">
                <a:solidFill>
                  <a:srgbClr val="232D37"/>
                </a:solidFill>
                <a:latin typeface="Calibri"/>
              </a:rPr>
              <a:t>Related data connected through primary and foreign keys</a:t>
            </a:r>
          </a:p>
        </p:txBody>
      </p:sp>
      <p:sp>
        <p:nvSpPr>
          <p:cNvPr id="24" name="Tick circle"/>
          <p:cNvSpPr/>
          <p:nvPr/>
        </p:nvSpPr>
        <p:spPr>
          <a:xfrm>
            <a:off x="941832" y="5797296"/>
            <a:ext cx="310896" cy="310896"/>
          </a:xfrm>
          <a:prstGeom prst="ellipse">
            <a:avLst/>
          </a:prstGeom>
          <a:solidFill>
            <a:srgbClr val="E878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Tic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861304"/>
            <a:ext cx="182880" cy="182880"/>
          </a:xfrm>
          <a:prstGeom prst="rect">
            <a:avLst/>
          </a:prstGeom>
        </p:spPr>
      </p:pic>
      <p:sp>
        <p:nvSpPr>
          <p:cNvPr id="26" name="Outcome 5"/>
          <p:cNvSpPr txBox="1"/>
          <p:nvPr/>
        </p:nvSpPr>
        <p:spPr>
          <a:xfrm>
            <a:off x="1463040" y="5724144"/>
            <a:ext cx="49834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600" b="0" i="0">
                <a:solidFill>
                  <a:srgbClr val="232D37"/>
                </a:solidFill>
                <a:latin typeface="Calibri"/>
              </a:rPr>
              <a:t>Practical use of ER-to-relational mapping and SQL</a:t>
            </a:r>
          </a:p>
        </p:txBody>
      </p:sp>
      <p:sp>
        <p:nvSpPr>
          <p:cNvPr id="27" name="Icon circle FaLightbulb"/>
          <p:cNvSpPr/>
          <p:nvPr/>
        </p:nvSpPr>
        <p:spPr>
          <a:xfrm>
            <a:off x="7168895" y="2898648"/>
            <a:ext cx="512064" cy="512064"/>
          </a:xfrm>
          <a:prstGeom prst="ellipse">
            <a:avLst/>
          </a:prstGeom>
          <a:solidFill>
            <a:srgbClr val="232D3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Icon FaLightbulb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767" y="3017520"/>
            <a:ext cx="274320" cy="274320"/>
          </a:xfrm>
          <a:prstGeom prst="rect">
            <a:avLst/>
          </a:prstGeom>
        </p:spPr>
      </p:pic>
      <p:sp>
        <p:nvSpPr>
          <p:cNvPr id="29" name="Heading Future Scope"/>
          <p:cNvSpPr txBox="1"/>
          <p:nvPr/>
        </p:nvSpPr>
        <p:spPr>
          <a:xfrm>
            <a:off x="7818119" y="2880360"/>
            <a:ext cx="3685032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800" b="1" i="0">
                <a:solidFill>
                  <a:srgbClr val="232D37"/>
                </a:solidFill>
                <a:latin typeface="Calibri"/>
              </a:rPr>
              <a:t>Future Scope</a:t>
            </a:r>
          </a:p>
        </p:txBody>
      </p:sp>
      <p:sp>
        <p:nvSpPr>
          <p:cNvPr id="30" name="Future scope list"/>
          <p:cNvSpPr txBox="1"/>
          <p:nvPr/>
        </p:nvSpPr>
        <p:spPr>
          <a:xfrm>
            <a:off x="7223759" y="3566160"/>
            <a:ext cx="4187952" cy="27431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2880" indent="-182880">
              <a:spcAft>
                <a:spcPts val="900"/>
              </a:spcAft>
              <a:buClr>
                <a:srgbClr val="E8782A"/>
              </a:buClr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Calibri"/>
              </a:rPr>
              <a:t>Login and role-based access for customers, advisors and admins</a:t>
            </a:r>
          </a:p>
          <a:p>
            <a:pPr marL="182880" indent="-182880">
              <a:spcAft>
                <a:spcPts val="900"/>
              </a:spcAft>
              <a:buClr>
                <a:srgbClr val="E8782A"/>
              </a:buClr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Calibri"/>
              </a:rPr>
              <a:t>Online service booking and reminders</a:t>
            </a:r>
          </a:p>
          <a:p>
            <a:pPr marL="182880" indent="-182880">
              <a:spcAft>
                <a:spcPts val="900"/>
              </a:spcAft>
              <a:buClr>
                <a:srgbClr val="E8782A"/>
              </a:buClr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Calibri"/>
              </a:rPr>
              <a:t>Automatic bill calculation (parts + labour)</a:t>
            </a:r>
          </a:p>
          <a:p>
            <a:pPr marL="182880" indent="-182880">
              <a:spcAft>
                <a:spcPts val="900"/>
              </a:spcAft>
              <a:buClr>
                <a:srgbClr val="E8782A"/>
              </a:buClr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Calibri"/>
              </a:rPr>
              <a:t>Bills linked to individual services and spare parts</a:t>
            </a:r>
          </a:p>
          <a:p>
            <a:pPr marL="182880" indent="-182880">
              <a:spcAft>
                <a:spcPts val="0"/>
              </a:spcAft>
              <a:buClr>
                <a:srgbClr val="E8782A"/>
              </a:buClr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Calibri"/>
              </a:rPr>
              <a:t>Web or mobile front end</a:t>
            </a:r>
          </a:p>
        </p:txBody>
      </p:sp>
    </p:spTree>
    <p:extLst>
      <p:ext uri="{BB962C8B-B14F-4D97-AF65-F5344CB8AC3E}">
        <p14:creationId xmlns:p14="http://schemas.microsoft.com/office/powerpoint/2010/main" val="4053351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859A8-4301-4C8E-80D1-086242B73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en-US" sz="3200" b="1" dirty="0">
                <a:latin typeface="Book Antiqua" panose="02040602050305030304" pitchFamily="18" charset="0"/>
              </a:rPr>
              <a:t>References</a:t>
            </a:r>
          </a:p>
        </p:txBody>
      </p:sp>
      <p:sp>
        <p:nvSpPr>
          <p:cNvPr id="3" name="Docs card"/>
          <p:cNvSpPr/>
          <p:nvPr/>
        </p:nvSpPr>
        <p:spPr>
          <a:xfrm>
            <a:off x="548640" y="1371600"/>
            <a:ext cx="5408676" cy="5029200"/>
          </a:xfrm>
          <a:prstGeom prst="roundRect">
            <a:avLst>
              <a:gd name="adj" fmla="val 2181"/>
            </a:avLst>
          </a:prstGeom>
          <a:solidFill>
            <a:srgbClr val="F3F5F8"/>
          </a:solidFill>
          <a:ln w="9525">
            <a:solidFill>
              <a:srgbClr val="D5DB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Books card"/>
          <p:cNvSpPr/>
          <p:nvPr/>
        </p:nvSpPr>
        <p:spPr>
          <a:xfrm>
            <a:off x="6231636" y="1371600"/>
            <a:ext cx="5408676" cy="5029200"/>
          </a:xfrm>
          <a:prstGeom prst="roundRect">
            <a:avLst>
              <a:gd name="adj" fmla="val 2181"/>
            </a:avLst>
          </a:prstGeom>
          <a:solidFill>
            <a:srgbClr val="F3F5F8"/>
          </a:solidFill>
          <a:ln w="9525">
            <a:solidFill>
              <a:srgbClr val="D5DBE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Icon circle FaLaptopCode"/>
          <p:cNvSpPr/>
          <p:nvPr/>
        </p:nvSpPr>
        <p:spPr>
          <a:xfrm>
            <a:off x="768096" y="1572768"/>
            <a:ext cx="512064" cy="512064"/>
          </a:xfrm>
          <a:prstGeom prst="ellipse">
            <a:avLst/>
          </a:prstGeom>
          <a:solidFill>
            <a:srgbClr val="E878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con FaLaptopCo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691640"/>
            <a:ext cx="274320" cy="274320"/>
          </a:xfrm>
          <a:prstGeom prst="rect">
            <a:avLst/>
          </a:prstGeom>
        </p:spPr>
      </p:pic>
      <p:sp>
        <p:nvSpPr>
          <p:cNvPr id="7" name="Heading Documentation &amp; Tutorials"/>
          <p:cNvSpPr txBox="1"/>
          <p:nvPr/>
        </p:nvSpPr>
        <p:spPr>
          <a:xfrm>
            <a:off x="1417319" y="1554480"/>
            <a:ext cx="440283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800" b="1" i="0">
                <a:solidFill>
                  <a:srgbClr val="232D37"/>
                </a:solidFill>
                <a:latin typeface="Calibri"/>
              </a:rPr>
              <a:t>Documentation &amp; Tutorials</a:t>
            </a:r>
          </a:p>
        </p:txBody>
      </p:sp>
      <p:sp>
        <p:nvSpPr>
          <p:cNvPr id="8" name="Icon circle FaBook"/>
          <p:cNvSpPr/>
          <p:nvPr/>
        </p:nvSpPr>
        <p:spPr>
          <a:xfrm>
            <a:off x="6451091" y="1572768"/>
            <a:ext cx="512064" cy="512064"/>
          </a:xfrm>
          <a:prstGeom prst="ellipse">
            <a:avLst/>
          </a:prstGeom>
          <a:solidFill>
            <a:srgbClr val="232D3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Icon FaBoo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963" y="1691640"/>
            <a:ext cx="274320" cy="274320"/>
          </a:xfrm>
          <a:prstGeom prst="rect">
            <a:avLst/>
          </a:prstGeom>
        </p:spPr>
      </p:pic>
      <p:sp>
        <p:nvSpPr>
          <p:cNvPr id="10" name="Heading Books &amp; Research Papers"/>
          <p:cNvSpPr txBox="1"/>
          <p:nvPr/>
        </p:nvSpPr>
        <p:spPr>
          <a:xfrm>
            <a:off x="7100316" y="1554480"/>
            <a:ext cx="440283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800" b="1" i="0">
                <a:solidFill>
                  <a:srgbClr val="232D37"/>
                </a:solidFill>
                <a:latin typeface="Calibri"/>
              </a:rPr>
              <a:t>Books &amp; Research Papers</a:t>
            </a:r>
          </a:p>
        </p:txBody>
      </p:sp>
      <p:sp>
        <p:nvSpPr>
          <p:cNvPr id="11" name="Documentation references"/>
          <p:cNvSpPr txBox="1"/>
          <p:nvPr/>
        </p:nvSpPr>
        <p:spPr>
          <a:xfrm>
            <a:off x="822959" y="2267712"/>
            <a:ext cx="4905756" cy="402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92608" indent="-292608">
              <a:spcAft>
                <a:spcPts val="1300"/>
              </a:spcAft>
              <a:buClr>
                <a:srgbClr val="E8782A"/>
              </a:buClr>
              <a:buFont typeface="+mj-lt"/>
              <a:buAutoNum type="arabicPeriod"/>
            </a:pPr>
            <a:r>
              <a:rPr sz="1600" b="1" i="0">
                <a:solidFill>
                  <a:srgbClr val="232D37"/>
                </a:solidFill>
                <a:latin typeface="Calibri"/>
              </a:rPr>
              <a:t>MySQL 8.0 Reference Manual</a:t>
            </a:r>
            <a:r>
              <a:rPr sz="1600" b="0" i="0">
                <a:solidFill>
                  <a:srgbClr val="232D37"/>
                </a:solidFill>
                <a:latin typeface="Calibri"/>
              </a:rPr>
              <a:t> — dev.mysql.com/doc/refman/8.0/en</a:t>
            </a:r>
          </a:p>
          <a:p>
            <a:pPr marL="292608" indent="-292608">
              <a:spcAft>
                <a:spcPts val="1300"/>
              </a:spcAft>
              <a:buClr>
                <a:srgbClr val="E8782A"/>
              </a:buClr>
              <a:buFont typeface="+mj-lt"/>
              <a:buAutoNum type="arabicPeriod"/>
            </a:pPr>
            <a:r>
              <a:rPr sz="1600" b="1" i="0">
                <a:solidFill>
                  <a:srgbClr val="232D37"/>
                </a:solidFill>
                <a:latin typeface="Calibri"/>
              </a:rPr>
              <a:t>MySQL Workbench Manual</a:t>
            </a:r>
            <a:r>
              <a:rPr sz="1600" b="0" i="0">
                <a:solidFill>
                  <a:srgbClr val="232D37"/>
                </a:solidFill>
                <a:latin typeface="Calibri"/>
              </a:rPr>
              <a:t> — dev.mysql.com/doc/workbench/en</a:t>
            </a:r>
          </a:p>
          <a:p>
            <a:pPr marL="292608" indent="-292608">
              <a:spcAft>
                <a:spcPts val="1300"/>
              </a:spcAft>
              <a:buClr>
                <a:srgbClr val="E8782A"/>
              </a:buClr>
              <a:buFont typeface="+mj-lt"/>
              <a:buAutoNum type="arabicPeriod"/>
            </a:pPr>
            <a:r>
              <a:rPr sz="1600" b="1" i="0">
                <a:solidFill>
                  <a:srgbClr val="232D37"/>
                </a:solidFill>
                <a:latin typeface="Calibri"/>
              </a:rPr>
              <a:t>W3Schools: SQL Tutorial</a:t>
            </a:r>
            <a:r>
              <a:rPr sz="1600" b="0" i="0">
                <a:solidFill>
                  <a:srgbClr val="232D37"/>
                </a:solidFill>
                <a:latin typeface="Calibri"/>
              </a:rPr>
              <a:t> — w3schools.com/sql</a:t>
            </a:r>
          </a:p>
          <a:p>
            <a:pPr marL="292608" indent="-292608">
              <a:spcAft>
                <a:spcPts val="1300"/>
              </a:spcAft>
              <a:buClr>
                <a:srgbClr val="E8782A"/>
              </a:buClr>
              <a:buFont typeface="+mj-lt"/>
              <a:buAutoNum type="arabicPeriod"/>
            </a:pPr>
            <a:r>
              <a:rPr sz="1600" b="1" i="0">
                <a:solidFill>
                  <a:srgbClr val="232D37"/>
                </a:solidFill>
                <a:latin typeface="Calibri"/>
              </a:rPr>
              <a:t>GeeksforGeeks: DBMS and SQL</a:t>
            </a:r>
            <a:r>
              <a:rPr sz="1600" b="0" i="0">
                <a:solidFill>
                  <a:srgbClr val="232D37"/>
                </a:solidFill>
                <a:latin typeface="Calibri"/>
              </a:rPr>
              <a:t> — geeksforgeeks.org</a:t>
            </a:r>
          </a:p>
          <a:p>
            <a:pPr marL="292608" indent="-292608">
              <a:spcAft>
                <a:spcPts val="1300"/>
              </a:spcAft>
              <a:buClr>
                <a:srgbClr val="E8782A"/>
              </a:buClr>
              <a:buFont typeface="+mj-lt"/>
              <a:buAutoNum type="arabicPeriod"/>
            </a:pPr>
            <a:r>
              <a:rPr sz="1600" b="1" i="0">
                <a:solidFill>
                  <a:srgbClr val="232D37"/>
                </a:solidFill>
                <a:latin typeface="Calibri"/>
              </a:rPr>
              <a:t>DBMS course materials</a:t>
            </a:r>
            <a:r>
              <a:rPr sz="1600" b="0" i="0">
                <a:solidFill>
                  <a:srgbClr val="232D37"/>
                </a:solidFill>
                <a:latin typeface="Calibri"/>
              </a:rPr>
              <a:t> — JSPM’s Rajarshi Shahu College of Engineering</a:t>
            </a:r>
          </a:p>
        </p:txBody>
      </p:sp>
      <p:sp>
        <p:nvSpPr>
          <p:cNvPr id="12" name="Book references"/>
          <p:cNvSpPr txBox="1"/>
          <p:nvPr/>
        </p:nvSpPr>
        <p:spPr>
          <a:xfrm>
            <a:off x="6505955" y="2267712"/>
            <a:ext cx="4905756" cy="4023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92608" indent="-292608">
              <a:spcAft>
                <a:spcPts val="1300"/>
              </a:spcAft>
              <a:buClr>
                <a:srgbClr val="E8782A"/>
              </a:buClr>
              <a:buFont typeface="+mj-lt"/>
              <a:buAutoNum type="arabicPeriod" startAt="6"/>
            </a:pPr>
            <a:r>
              <a:rPr sz="1600" b="1" i="0">
                <a:solidFill>
                  <a:srgbClr val="232D37"/>
                </a:solidFill>
                <a:latin typeface="Calibri"/>
              </a:rPr>
              <a:t>Database System Concepts</a:t>
            </a:r>
            <a:r>
              <a:rPr sz="1600" b="0" i="0">
                <a:solidFill>
                  <a:srgbClr val="232D37"/>
                </a:solidFill>
                <a:latin typeface="Calibri"/>
              </a:rPr>
              <a:t> — A. Silberschatz, H. F. Korth, S. Sudarshan, McGraw-Hill</a:t>
            </a:r>
          </a:p>
          <a:p>
            <a:pPr marL="292608" indent="-292608">
              <a:spcAft>
                <a:spcPts val="1300"/>
              </a:spcAft>
              <a:buClr>
                <a:srgbClr val="E8782A"/>
              </a:buClr>
              <a:buFont typeface="+mj-lt"/>
              <a:buAutoNum type="arabicPeriod" startAt="6"/>
            </a:pPr>
            <a:r>
              <a:rPr sz="1600" b="1" i="0">
                <a:solidFill>
                  <a:srgbClr val="232D37"/>
                </a:solidFill>
                <a:latin typeface="Calibri"/>
              </a:rPr>
              <a:t>Fundamentals of Database Systems</a:t>
            </a:r>
            <a:r>
              <a:rPr sz="1600" b="0" i="0">
                <a:solidFill>
                  <a:srgbClr val="232D37"/>
                </a:solidFill>
                <a:latin typeface="Calibri"/>
              </a:rPr>
              <a:t> — R. Elmasri, S. B. Navathe, Pearson</a:t>
            </a:r>
          </a:p>
          <a:p>
            <a:pPr marL="292608" indent="-292608">
              <a:spcAft>
                <a:spcPts val="1300"/>
              </a:spcAft>
              <a:buClr>
                <a:srgbClr val="E8782A"/>
              </a:buClr>
              <a:buFont typeface="+mj-lt"/>
              <a:buAutoNum type="arabicPeriod" startAt="6"/>
            </a:pPr>
            <a:r>
              <a:rPr sz="1600" b="1" i="0">
                <a:solidFill>
                  <a:srgbClr val="232D37"/>
                </a:solidFill>
                <a:latin typeface="Calibri"/>
              </a:rPr>
              <a:t>“A Relational Model of Data for Large Shared Data Banks”</a:t>
            </a:r>
            <a:r>
              <a:rPr sz="1600" b="0" i="0">
                <a:solidFill>
                  <a:srgbClr val="232D37"/>
                </a:solidFill>
                <a:latin typeface="Calibri"/>
              </a:rPr>
              <a:t> — E. F. Codd, Communications of the ACM, 1970</a:t>
            </a:r>
          </a:p>
          <a:p>
            <a:pPr marL="292608" indent="-292608">
              <a:spcAft>
                <a:spcPts val="1300"/>
              </a:spcAft>
              <a:buClr>
                <a:srgbClr val="E8782A"/>
              </a:buClr>
              <a:buFont typeface="+mj-lt"/>
              <a:buAutoNum type="arabicPeriod" startAt="6"/>
            </a:pPr>
            <a:r>
              <a:rPr sz="1600" b="1" i="0">
                <a:solidFill>
                  <a:srgbClr val="232D37"/>
                </a:solidFill>
                <a:latin typeface="Calibri"/>
              </a:rPr>
              <a:t>“The Entity-Relationship Model: Toward a Unified View of Data”</a:t>
            </a:r>
            <a:r>
              <a:rPr sz="1600" b="0" i="0">
                <a:solidFill>
                  <a:srgbClr val="232D37"/>
                </a:solidFill>
                <a:latin typeface="Calibri"/>
              </a:rPr>
              <a:t> — P. P. Chen, ACM Transactions on Database Systems, 1976</a:t>
            </a:r>
          </a:p>
        </p:txBody>
      </p:sp>
    </p:spTree>
    <p:extLst>
      <p:ext uri="{BB962C8B-B14F-4D97-AF65-F5344CB8AC3E}">
        <p14:creationId xmlns:p14="http://schemas.microsoft.com/office/powerpoint/2010/main" val="940399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1237</Words>
  <Application>Microsoft Office PowerPoint</Application>
  <PresentationFormat>Widescreen</PresentationFormat>
  <Paragraphs>203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Book Antiqua</vt:lpstr>
      <vt:lpstr>Bookman Old Style</vt:lpstr>
      <vt:lpstr>Calibri</vt:lpstr>
      <vt:lpstr>Courier New</vt:lpstr>
      <vt:lpstr>Times New Roman</vt:lpstr>
      <vt:lpstr>Office Theme</vt:lpstr>
      <vt:lpstr>PowerPoint Presentation</vt:lpstr>
      <vt:lpstr>Index</vt:lpstr>
      <vt:lpstr>Introduction / Background</vt:lpstr>
      <vt:lpstr>Problem Definition &amp; Objectives </vt:lpstr>
      <vt:lpstr>Literature Survey </vt:lpstr>
      <vt:lpstr>Feasibility Study</vt:lpstr>
      <vt:lpstr>System Design &amp; Architecture </vt:lpstr>
      <vt:lpstr>Database Design &amp; ER Diagram </vt:lpstr>
      <vt:lpstr>SQL Implementation &amp; Results </vt:lpstr>
      <vt:lpstr>PowerPoint Presentation</vt:lpstr>
      <vt:lpstr>PowerPoint Presentation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Service and Maintenance Management System - DBMS Mini Project</dc:title>
  <dc:creator>Win-10</dc:creator>
  <cp:lastModifiedBy>Sarthak Jagtap</cp:lastModifiedBy>
  <cp:revision>44</cp:revision>
  <dcterms:created xsi:type="dcterms:W3CDTF">2023-11-19T03:41:15Z</dcterms:created>
  <dcterms:modified xsi:type="dcterms:W3CDTF">2026-10-13T20:55:25Z</dcterms:modified>
</cp:coreProperties>
</file>