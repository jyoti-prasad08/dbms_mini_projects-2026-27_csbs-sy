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82" r:id="rId9"/>
    <p:sldId id="287" r:id="rId10"/>
    <p:sldId id="28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09D7-0ED3-4FB4-968D-50574EBBA179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63A1E-539A-4081-80D9-4186E0CB4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5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5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78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4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1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4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7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7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96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1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0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9987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38665" cy="10247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544" y="41200"/>
            <a:ext cx="1003735" cy="937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389D3B-D090-41D6-BB8D-F8D1A3EC2634}"/>
              </a:ext>
            </a:extLst>
          </p:cNvPr>
          <p:cNvSpPr txBox="1"/>
          <p:nvPr/>
        </p:nvSpPr>
        <p:spPr>
          <a:xfrm>
            <a:off x="1038666" y="-36784"/>
            <a:ext cx="9809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13232">
              <a:spcBef>
                <a:spcPct val="50000"/>
              </a:spcBef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JSPM’s 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Rajarshi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Shahu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College of Engineering,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Tathawade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, Pune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(An Autonomous Institute affiliated to Savitribai Phule Pune University)</a:t>
            </a:r>
            <a:b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Department of Computer Science and Business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AA1BD-5C37-4898-838A-C1F25A58D660}"/>
              </a:ext>
            </a:extLst>
          </p:cNvPr>
          <p:cNvSpPr txBox="1"/>
          <p:nvPr/>
        </p:nvSpPr>
        <p:spPr>
          <a:xfrm>
            <a:off x="0" y="87955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Academic Year: 2026-27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74F7D-56E3-4E55-95F0-C0D8C8C11BE8}"/>
              </a:ext>
            </a:extLst>
          </p:cNvPr>
          <p:cNvSpPr txBox="1"/>
          <p:nvPr/>
        </p:nvSpPr>
        <p:spPr>
          <a:xfrm>
            <a:off x="-96688" y="1631304"/>
            <a:ext cx="12192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Project Title:</a:t>
            </a:r>
            <a:r>
              <a:rPr lang="en-US" sz="2000" dirty="0" b="1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 AgriManage – Farm Management System</a:t>
            </a: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29130-40B3-459E-8B41-60933F69369B}"/>
              </a:ext>
            </a:extLst>
          </p:cNvPr>
          <p:cNvSpPr txBox="1"/>
          <p:nvPr/>
        </p:nvSpPr>
        <p:spPr>
          <a:xfrm>
            <a:off x="911424" y="3125576"/>
            <a:ext cx="10058400" cy="2232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Students Name and PRN no: </a:t>
            </a:r>
            <a:r>
              <a:rPr lang="en-US" b="0" dirty="0">
                <a:solidFill>
                  <a:prstClr val="black"/>
                </a:solidFill>
                <a:latin typeface="Book Antiqua"/>
              </a:rPr>
              <a:t>Atharva Gogawale (RBT25CB053), Gauree Rajapure (RBT25CB052)</a:t>
            </a:r>
            <a:br>
              <a:rPr lang="en-US" b="1" dirty="0">
                <a:solidFill>
                  <a:prstClr val="black"/>
                </a:solidFill>
                <a:latin typeface="Book Antiqua"/>
              </a:rPr>
            </a:br>
            <a:r>
              <a:rPr lang="en-US" b="1" dirty="0">
                <a:solidFill>
                  <a:prstClr val="black"/>
                </a:solidFill>
                <a:latin typeface="Book Antiqua"/>
              </a:rPr>
              <a:t/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Date: </a:t>
            </a:r>
            <a:r>
              <a:rPr lang="en-US" b="0" dirty="0">
                <a:solidFill>
                  <a:prstClr val="black"/>
                </a:solidFill>
                <a:latin typeface="Book Antiqua"/>
              </a:rPr>
              <a:t>26-10-2026</a:t>
            </a:r>
            <a:br>
              <a:rPr lang="en-US" b="1" dirty="0">
                <a:solidFill>
                  <a:prstClr val="black"/>
                </a:solidFill>
                <a:latin typeface="Book Antiqua"/>
              </a:rPr>
            </a:br>
            <a:r>
              <a:rPr lang="en-US" b="1" dirty="0">
                <a:solidFill>
                  <a:prstClr val="black"/>
                </a:solidFill>
                <a:latin typeface="Book Antiqua"/>
              </a:rPr>
              <a:t/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Name: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Database Management System </a:t>
            </a:r>
            <a:endParaRPr lang="en-US" dirty="0">
              <a:solidFill>
                <a:prstClr val="black"/>
              </a:solidFill>
              <a:latin typeface="Book Antiqua"/>
            </a:endParaRP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Coordinator: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Prof. Rutuja S. </a:t>
            </a:r>
            <a:r>
              <a:rPr lang="en-US" dirty="0" err="1">
                <a:solidFill>
                  <a:prstClr val="black"/>
                </a:solidFill>
                <a:latin typeface="Book Antiqua"/>
              </a:rPr>
              <a:t>Bachhav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</a:t>
            </a:r>
            <a:endParaRPr lang="en-IN" dirty="0">
              <a:solidFill>
                <a:prstClr val="black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Book Antiqua" panose="02040602050305030304" pitchFamily="18" charset="0"/>
                <a:ea typeface="+mn-ea"/>
                <a:cs typeface="+mn-cs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5491-BB56-4043-A87B-5AFAEC22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Introduction /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F39FD-B974-4648-976D-135720301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sz="2000" b="1">
                <a:latin typeface="Times New Roman"/>
              </a:rPr>
              <a:t>Definition: </a:t>
            </a:r>
            <a:r>
              <a:rPr sz="2000" b="0">
                <a:latin typeface="Times New Roman"/>
              </a:rPr>
              <a:t>AgriManage is a web-based farm management system that stores and connects farm data – farmers, land, soil, crops, inputs, equipment and sales – in one MongoDB database.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Background: </a:t>
            </a:r>
            <a:r>
              <a:rPr sz="2000" b="0">
                <a:latin typeface="Times New Roman"/>
              </a:rPr>
              <a:t>Farm records are usually kept in notebooks or scattered spreadsheets, so related data (land ↔ crop ↔ input ↔ sale) is hard to link and search.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Domain context: </a:t>
            </a:r>
            <a:r>
              <a:rPr sz="2000" b="0">
                <a:latin typeface="Times New Roman"/>
              </a:rPr>
              <a:t>Agriculture supports a large share of rural livelihoods in India; accurate records drive planning and income.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Motivation: </a:t>
            </a:r>
            <a:r>
              <a:rPr sz="2000" b="0">
                <a:latin typeface="Times New Roman"/>
              </a:rPr>
              <a:t>A centralised database gives quick access to data, fewer errors and instant revenue reporting – the core purpose of a DBMS.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883C8-F666-4B87-8F8B-246C58248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1800" b="1">
                <a:latin typeface="Times New Roman"/>
              </a:rPr>
              <a:t>Problem Definition</a:t>
            </a:r>
            <a:endParaRPr lang="en-US" sz="2000" dirty="0">
              <a:latin typeface="Book Antiqua" panose="02040602050305030304" pitchFamily="18" charset="0"/>
            </a:endParaRP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Farm data is maintained manually, causing duplication, no link between land, cultivation, inputs and sales, and no quick revenue view.</a:t>
            </a:r>
          </a:p>
          <a:p>
            <a:pPr>
              <a:spcAft>
                <a:spcPts val="600"/>
              </a:spcAft>
            </a:pPr>
            <a:r>
              <a:rPr sz="1800" b="1">
                <a:latin typeface="Times New Roman"/>
              </a:rPr>
              <a:t>Objectives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Design a database for 13 related farm entities with proper relationships.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Build a 2-tier application (HTML/JS client + Express/MongoDB backend) with full CRUD.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Auto-calculate sales totals (quantity × price per unit) and show a live dashboard.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Maintain data integrity using references between collections.</a:t>
            </a: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0D20C-DF7A-49E4-8B89-151415458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Manual registers / Excel: </a:t>
            </a:r>
            <a:r>
              <a:rPr sz="2000" b="0">
                <a:latin typeface="Times New Roman"/>
              </a:rPr>
              <a:t>simple, but no relationships, high redundancy, error-prone.</a:t>
            </a:r>
            <a:endParaRPr lang="en-US" sz="2000" dirty="0">
              <a:latin typeface="Book Antiqua" panose="02040602050305030304" pitchFamily="18" charset="0"/>
            </a:endParaRP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Government portals &amp; apps (e.g. e-NAM, Kisan Suvidha): </a:t>
            </a:r>
            <a:r>
              <a:rPr sz="2000" b="0">
                <a:latin typeface="Times New Roman"/>
              </a:rPr>
              <a:t>focus on market prices and advisory, not a farmer’s own land-to-sale records.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Generic ERP / farm software: </a:t>
            </a:r>
            <a:r>
              <a:rPr sz="2000" b="0">
                <a:latin typeface="Times New Roman"/>
              </a:rPr>
              <a:t>costly and complex for small farms.</a:t>
            </a:r>
          </a:p>
          <a:p>
            <a:pPr>
              <a:spcAft>
                <a:spcPts val="600"/>
              </a:spcAft>
            </a:pPr>
            <a:r>
              <a:rPr sz="2000" b="1">
                <a:latin typeface="Times New Roman"/>
              </a:rPr>
              <a:t>Gap identified: </a:t>
            </a:r>
            <a:r>
              <a:rPr sz="2000" b="0">
                <a:latin typeface="Times New Roman"/>
              </a:rPr>
              <a:t>no simple, low-cost, integrated system linking farmer, land, soil test, season, crop, inputs, equipment and sales.</a:t>
            </a: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DD44-DB9B-458B-9D25-3AF642BFD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900" b="1">
                <a:latin typeface="Book Antiqua"/>
              </a:rPr>
              <a:t>Technical Feasibility</a:t>
            </a:r>
            <a:r>
              <a:rPr sz="1900" b="0">
                <a:latin typeface="Book Antiqua"/>
              </a:rPr>
              <a:t/>
            </a:r>
          </a:p>
          <a:p>
            <a:pPr>
              <a:spcAft>
                <a:spcPts val="600"/>
              </a:spcAft>
            </a:pPr>
            <a:r>
              <a:rPr sz="1900" b="0">
                <a:latin typeface="Book Antiqua"/>
              </a:rPr>
              <a:t>Node.js, Express and MongoDB are open source, well documented and run on an ordinary laptop (localhost:3000).</a:t>
            </a:r>
          </a:p>
          <a:p>
            <a:pPr>
              <a:spcAft>
                <a:spcPts val="600"/>
              </a:spcAft>
            </a:pPr>
            <a:r>
              <a:rPr sz="1900" b="1">
                <a:latin typeface="Book Antiqua"/>
              </a:rPr>
              <a:t>Financial / Business</a:t>
            </a:r>
            <a:r>
              <a:rPr sz="1900" b="0">
                <a:latin typeface="Book Antiqua"/>
              </a:rPr>
              <a:t/>
            </a:r>
          </a:p>
          <a:p>
            <a:pPr>
              <a:spcAft>
                <a:spcPts val="600"/>
              </a:spcAft>
            </a:pPr>
            <a:r>
              <a:rPr sz="1900" b="0">
                <a:latin typeface="Book Antiqua"/>
              </a:rPr>
              <a:t>No licence cost; only development time. Tracks sales revenue (₹3,84,000 in sample data) to support profit decisions.</a:t>
            </a:r>
          </a:p>
          <a:p>
            <a:pPr>
              <a:spcAft>
                <a:spcPts val="600"/>
              </a:spcAft>
            </a:pPr>
            <a:r>
              <a:rPr sz="1900" b="1">
                <a:latin typeface="Book Antiqua"/>
              </a:rPr>
              <a:t>Operational Feasibility</a:t>
            </a:r>
            <a:r>
              <a:rPr sz="1900" b="0">
                <a:latin typeface="Book Antiqua"/>
              </a:rPr>
              <a:t/>
            </a:r>
          </a:p>
          <a:p>
            <a:pPr>
              <a:spcAft>
                <a:spcPts val="600"/>
              </a:spcAft>
            </a:pPr>
            <a:r>
              <a:rPr sz="1900" b="0">
                <a:latin typeface="Book Antiqua"/>
              </a:rPr>
              <a:t>Simple menu-based browser UI with a page per entity; minimal training needed.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A560C-1674-4EE3-94B4-618D361F7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114800"/>
            <a:ext cx="11247120" cy="237744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500" b="0">
                <a:latin typeface="Times New Roman"/>
              </a:rPr>
              <a:t>Three-tier flow: Browser (HTML/CSS/JS) → Express REST API → MongoDB via Mongoose.</a:t>
            </a:r>
            <a:endParaRPr lang="en-US"/>
          </a:p>
          <a:p>
            <a:pPr>
              <a:spcAft>
                <a:spcPts val="600"/>
              </a:spcAft>
            </a:pPr>
            <a:r>
              <a:rPr sz="1500" b="0">
                <a:latin typeface="Times New Roman"/>
              </a:rPr>
              <a:t>Generic API: one entity-driven route set; helpers wrap (error handling), refs (reference fields), clean (removes empty/auto fields).</a:t>
            </a:r>
          </a:p>
          <a:p>
            <a:pPr>
              <a:spcAft>
                <a:spcPts val="600"/>
              </a:spcAft>
            </a:pPr>
            <a:r>
              <a:rPr sz="1500" b="0">
                <a:latin typeface="Times New Roman"/>
              </a:rPr>
              <a:t>Sales total_amount = quantity × price_per_unit, computed on the server.</a:t>
            </a:r>
          </a:p>
        </p:txBody>
      </p:sp>
      <p:pic>
        <p:nvPicPr>
          <p:cNvPr id="4" name="Picture 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6949440" cy="2173044"/>
          </a:xfrm>
          <a:prstGeom prst="rect">
            <a:avLst/>
          </a:prstGeom>
        </p:spPr>
      </p:pic>
      <p:pic>
        <p:nvPicPr>
          <p:cNvPr id="5" name="Picture 4" descr="cod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463040"/>
            <a:ext cx="4389120" cy="212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</p:txBody>
      </p:sp>
      <p:pic>
        <p:nvPicPr>
          <p:cNvPr id="4" name="Picture 3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234440"/>
            <a:ext cx="9713335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64592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latin typeface="Times New Roman"/>
              </a:rPr>
              <a:t>13 collections (+ Reports view)</a:t>
            </a:r>
          </a:p>
          <a:p>
            <a:pPr>
              <a:spcAft>
                <a:spcPts val="800"/>
              </a:spcAft>
            </a:pPr>
            <a:r>
              <a:rPr sz="1300" b="0">
                <a:latin typeface="Times New Roman"/>
              </a:rPr>
              <a:t>1:1 – Farmer ↔ Profile</a:t>
            </a:r>
          </a:p>
          <a:p>
            <a:pPr>
              <a:spcAft>
                <a:spcPts val="800"/>
              </a:spcAft>
            </a:pPr>
            <a:r>
              <a:rPr sz="1300" b="0">
                <a:latin typeface="Times New Roman"/>
              </a:rPr>
              <a:t>1:N – parent to child</a:t>
            </a:r>
          </a:p>
          <a:p>
            <a:pPr>
              <a:spcAft>
                <a:spcPts val="800"/>
              </a:spcAft>
            </a:pPr>
            <a:r>
              <a:rPr sz="1300" b="0">
                <a:latin typeface="Times New Roman"/>
              </a:rPr>
              <a:t>Cultivations links Land, Season and Crop</a:t>
            </a:r>
          </a:p>
          <a:p>
            <a:pPr>
              <a:spcAft>
                <a:spcPts val="800"/>
              </a:spcAft>
            </a:pPr>
            <a:r>
              <a:rPr sz="1300" b="0">
                <a:latin typeface="Times New Roman"/>
              </a:rPr>
              <a:t>Sales ← Buyers, Cultivations</a:t>
            </a:r>
          </a:p>
          <a:p>
            <a:pPr>
              <a:spcAft>
                <a:spcPts val="800"/>
              </a:spcAft>
            </a:pPr>
            <a:r>
              <a:rPr sz="1300" b="0">
                <a:latin typeface="Times New Roman"/>
              </a:rPr>
              <a:t>Crop Inputs links Cultivations &amp; Inputs</a:t>
            </a:r>
          </a:p>
        </p:txBody>
      </p:sp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</a:t>
            </a:r>
            <a:b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D134E-EA61-2360-8B8A-F171E29D3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3680" y="1371600"/>
            <a:ext cx="5303520" cy="493776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600" b="1">
                <a:latin typeface="Times New Roman"/>
              </a:rPr>
              <a:t>MongoDB queries used</a:t>
            </a:r>
            <a:endParaRPr lang="en-US" dirty="0"/>
          </a:p>
          <a:p>
            <a:pPr marL="0" indent="0">
              <a:buNone/>
            </a:pPr>
            <a:r>
              <a:rPr sz="1300">
                <a:latin typeface="Courier New"/>
              </a:rPr>
              <a:t>db.farmers.find()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db.sales.aggregate([{ $group: {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_id: null,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  total: { $sum: "$total_amount" } } }])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db.crops.insertOne({ ... })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db.lands.updateOne({ _id }, { $set: {...} })</a:t>
            </a:r>
          </a:p>
          <a:p>
            <a:pPr marL="0" indent="0">
              <a:buNone/>
            </a:pPr>
            <a:r>
              <a:rPr sz="1300">
                <a:latin typeface="Courier New"/>
              </a:rPr>
              <a:t>db.sales.deleteOne({ _id })</a:t>
            </a:r>
          </a:p>
          <a:p>
            <a:r>
              <a:rPr sz="1600" b="1">
                <a:latin typeface="Times New Roman"/>
              </a:rPr>
              <a:t>Results</a:t>
            </a:r>
          </a:p>
          <a:p>
            <a:r>
              <a:rPr sz="1500">
                <a:latin typeface="Times New Roman"/>
              </a:rPr>
              <a:t>All 13 modules working with full CRUD</a:t>
            </a:r>
          </a:p>
          <a:p>
            <a:r>
              <a:rPr sz="1500">
                <a:latin typeface="Times New Roman"/>
              </a:rPr>
              <a:t>Dashboard shows live record counts</a:t>
            </a:r>
          </a:p>
          <a:p>
            <a:r>
              <a:rPr sz="1500">
                <a:latin typeface="Times New Roman"/>
              </a:rPr>
              <a:t>Total sales revenue: ₹3,84,000 (auto-calculated)</a:t>
            </a:r>
          </a:p>
        </p:txBody>
      </p:sp>
      <p:pic>
        <p:nvPicPr>
          <p:cNvPr id="4" name="Picture 3" descr="das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6035040" cy="27308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29768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/>
              <a:t>Fig: AgriManage dashboard (localhost:3000)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DA3A2B-6D03-4D04-9D87-415BE72FB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AgriManage successfully integrates 13 farm entities into one MongoDB database with a simple web interface.</a:t>
            </a:r>
            <a:endParaRPr lang="en-US"/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Meets the objectives: schema design, 2-tier application, CRUD, references and automatic sales total.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Limitations: no login/roles, no charts or export, basic validation.</a:t>
            </a:r>
          </a:p>
          <a:p>
            <a:pPr>
              <a:spcAft>
                <a:spcPts val="600"/>
              </a:spcAft>
            </a:pPr>
            <a:r>
              <a:rPr sz="2000" b="0">
                <a:latin typeface="Times New Roman"/>
              </a:rPr>
              <a:t>Future scope: user authentication, charts, PDF/Excel reports, weather &amp; market-price APIs, mobile app.</a:t>
            </a:r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3200" b="1" dirty="0">
                <a:latin typeface="Book Antiqua" panose="02040602050305030304" pitchFamily="18" charset="0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5AD439-A3E7-7E4A-128B-AA8CF1C27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Silberschatz, Korth, Sudarshan – Database System Concepts, McGraw-Hill.</a:t>
            </a:r>
            <a:endParaRPr lang="en-US"/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Elmasri &amp; Navathe – Fundamentals of Database Systems, Pearson.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MongoDB Documentation – https://www.mongodb.com/docs/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Express.js Documentation – https://expressjs.com/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Mongoose Documentation – https://mongoosejs.com/docs/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Node.js Documentation – https://nodejs.org/en/docs/</a:t>
            </a:r>
          </a:p>
          <a:p>
            <a:pPr>
              <a:spcAft>
                <a:spcPts val="600"/>
              </a:spcAft>
            </a:pPr>
            <a:r>
              <a:rPr sz="1800" b="0">
                <a:latin typeface="Times New Roman"/>
              </a:rPr>
              <a:t>MDN Web Docs (HTML, CSS, JavaScript) – https://developer.mozilla.org/</a:t>
            </a:r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166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 Antiqua</vt:lpstr>
      <vt:lpstr>Bookman Old Style</vt:lpstr>
      <vt:lpstr>Calibri</vt:lpstr>
      <vt:lpstr>Times New Roman</vt:lpstr>
      <vt:lpstr>Office Theme</vt:lpstr>
      <vt:lpstr>PowerPoint Presentation</vt:lpstr>
      <vt:lpstr>Index</vt:lpstr>
      <vt:lpstr>Introduction / Background</vt:lpstr>
      <vt:lpstr>Problem Definition &amp; Objectives </vt:lpstr>
      <vt:lpstr>Literature Survey </vt:lpstr>
      <vt:lpstr>Feasibility Study</vt:lpstr>
      <vt:lpstr>System Design &amp; Architecture </vt:lpstr>
      <vt:lpstr>Database Design &amp; ER Diagram </vt:lpstr>
      <vt:lpstr>SQL Implementation &amp; Results  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Win-10</dc:creator>
  <cp:lastModifiedBy>admin</cp:lastModifiedBy>
  <cp:revision>44</cp:revision>
  <dcterms:created xsi:type="dcterms:W3CDTF">2023-11-19T03:41:15Z</dcterms:created>
  <dcterms:modified xsi:type="dcterms:W3CDTF">2026-10-05T10:40:33Z</dcterms:modified>
</cp:coreProperties>
</file>